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2.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8288000" cy="10287000"/>
  <p:notesSz cx="6858000" cy="9144000"/>
  <p:embeddedFontLst>
    <p:embeddedFont>
      <p:font typeface="Poppins Bold" panose="00000800000000000000"/>
      <p:bold r:id="rId26"/>
    </p:embeddedFont>
    <p:embeddedFont>
      <p:font typeface="Poppins" panose="00000500000000000000"/>
      <p:regular r:id="rId27"/>
    </p:embeddedFont>
    <p:embeddedFont>
      <p:font typeface="Poppins Bold" panose="00000800000000000000" charset="0"/>
      <p:bold r:id="rId28"/>
    </p:embeddedFont>
    <p:embeddedFont>
      <p:font typeface="Calibri" panose="020F0502020204030204" charset="0"/>
      <p:regular r:id="rId29"/>
      <p:bold r:id="rId30"/>
    </p:embeddedFont>
    <p:embeddedFont>
      <p:font typeface="Arial Unicode MS" panose="020B0604020202020204" charset="-122"/>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1" d="100"/>
          <a:sy n="51" d="100"/>
        </p:scale>
        <p:origin x="934" y="286"/>
      </p:cViewPr>
      <p:guideLst>
        <p:guide orient="horz" pos="2160"/>
        <p:guide pos="285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2.jpeg"/><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264468" y="3603884"/>
            <a:ext cx="15759064" cy="1644489"/>
          </a:xfrm>
          <a:prstGeom prst="rect">
            <a:avLst/>
          </a:prstGeom>
        </p:spPr>
        <p:txBody>
          <a:bodyPr lIns="0" tIns="0" rIns="0" bIns="0" rtlCol="0" anchor="t">
            <a:spAutoFit/>
          </a:bodyPr>
          <a:lstStyle/>
          <a:p>
            <a:pPr algn="ctr">
              <a:lnSpc>
                <a:spcPts val="13065"/>
              </a:lnSpc>
            </a:pPr>
            <a:r>
              <a:rPr lang="en-US" sz="10710" b="1" spc="-546" dirty="0" err="1">
                <a:solidFill>
                  <a:srgbClr val="6A84FF"/>
                </a:solidFill>
                <a:latin typeface="Poppins Bold" panose="00000800000000000000"/>
                <a:ea typeface="Poppins Bold" panose="00000800000000000000"/>
                <a:cs typeface="Poppins Bold" panose="00000800000000000000"/>
                <a:sym typeface="Poppins Bold" panose="00000800000000000000"/>
              </a:rPr>
              <a:t>Ic</a:t>
            </a:r>
            <a:r>
              <a:rPr lang="en-US" sz="10710" b="1" spc="-546" dirty="0">
                <a:solidFill>
                  <a:srgbClr val="6A84FF"/>
                </a:solidFill>
                <a:latin typeface="Poppins Bold" panose="00000800000000000000"/>
                <a:ea typeface="Poppins Bold" panose="00000800000000000000"/>
                <a:cs typeface="Poppins Bold" panose="00000800000000000000"/>
                <a:sym typeface="Poppins Bold" panose="00000800000000000000"/>
              </a:rPr>
              <a:t>  Manufacturing  Tech</a:t>
            </a:r>
            <a:endParaRPr lang="en-US" sz="10710" b="1" spc="-546"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grpSp>
        <p:nvGrpSpPr>
          <p:cNvPr id="3" name="Group 3"/>
          <p:cNvGrpSpPr/>
          <p:nvPr/>
        </p:nvGrpSpPr>
        <p:grpSpPr>
          <a:xfrm>
            <a:off x="5377213" y="7431343"/>
            <a:ext cx="7862124" cy="689983"/>
            <a:chOff x="0" y="0"/>
            <a:chExt cx="2070683" cy="181724"/>
          </a:xfrm>
        </p:grpSpPr>
        <p:sp>
          <p:nvSpPr>
            <p:cNvPr id="4" name="Freeform 4"/>
            <p:cNvSpPr/>
            <p:nvPr/>
          </p:nvSpPr>
          <p:spPr>
            <a:xfrm>
              <a:off x="0" y="0"/>
              <a:ext cx="2070683" cy="181724"/>
            </a:xfrm>
            <a:custGeom>
              <a:avLst/>
              <a:gdLst/>
              <a:ahLst/>
              <a:cxnLst/>
              <a:rect l="l" t="t" r="r" b="b"/>
              <a:pathLst>
                <a:path w="2070683" h="181724">
                  <a:moveTo>
                    <a:pt x="90862" y="0"/>
                  </a:moveTo>
                  <a:lnTo>
                    <a:pt x="1979821" y="0"/>
                  </a:lnTo>
                  <a:cubicBezTo>
                    <a:pt x="2003919" y="0"/>
                    <a:pt x="2027030" y="9573"/>
                    <a:pt x="2044070" y="26613"/>
                  </a:cubicBezTo>
                  <a:cubicBezTo>
                    <a:pt x="2061110" y="43653"/>
                    <a:pt x="2070683" y="66764"/>
                    <a:pt x="2070683" y="90862"/>
                  </a:cubicBezTo>
                  <a:lnTo>
                    <a:pt x="2070683" y="90862"/>
                  </a:lnTo>
                  <a:cubicBezTo>
                    <a:pt x="2070683" y="141044"/>
                    <a:pt x="2030003" y="181724"/>
                    <a:pt x="1979821" y="181724"/>
                  </a:cubicBezTo>
                  <a:lnTo>
                    <a:pt x="90862" y="181724"/>
                  </a:lnTo>
                  <a:cubicBezTo>
                    <a:pt x="66764" y="181724"/>
                    <a:pt x="43653" y="172151"/>
                    <a:pt x="26613" y="155111"/>
                  </a:cubicBezTo>
                  <a:cubicBezTo>
                    <a:pt x="9573" y="138071"/>
                    <a:pt x="0" y="114960"/>
                    <a:pt x="0" y="90862"/>
                  </a:cubicBezTo>
                  <a:lnTo>
                    <a:pt x="0" y="90862"/>
                  </a:lnTo>
                  <a:cubicBezTo>
                    <a:pt x="0" y="66764"/>
                    <a:pt x="9573" y="43653"/>
                    <a:pt x="26613" y="26613"/>
                  </a:cubicBezTo>
                  <a:cubicBezTo>
                    <a:pt x="43653" y="9573"/>
                    <a:pt x="66764" y="0"/>
                    <a:pt x="90862" y="0"/>
                  </a:cubicBezTo>
                  <a:close/>
                </a:path>
              </a:pathLst>
            </a:custGeom>
            <a:solidFill>
              <a:srgbClr val="FFFFFF"/>
            </a:solidFill>
          </p:spPr>
          <p:txBody>
            <a:bodyPr/>
            <a:lstStyle/>
            <a:p>
              <a:endParaRPr lang="en-US"/>
            </a:p>
          </p:txBody>
        </p:sp>
        <p:sp>
          <p:nvSpPr>
            <p:cNvPr id="5" name="TextBox 5"/>
            <p:cNvSpPr txBox="1"/>
            <p:nvPr/>
          </p:nvSpPr>
          <p:spPr>
            <a:xfrm>
              <a:off x="0" y="-57150"/>
              <a:ext cx="2070683" cy="238874"/>
            </a:xfrm>
            <a:prstGeom prst="rect">
              <a:avLst/>
            </a:prstGeom>
          </p:spPr>
          <p:txBody>
            <a:bodyPr lIns="50800" tIns="50800" rIns="50800" bIns="50800" rtlCol="0" anchor="ctr"/>
            <a:lstStyle/>
            <a:p>
              <a:pPr algn="ctr">
                <a:lnSpc>
                  <a:spcPts val="2810"/>
                </a:lnSpc>
              </a:pPr>
            </a:p>
          </p:txBody>
        </p:sp>
      </p:grpSp>
      <p:grpSp>
        <p:nvGrpSpPr>
          <p:cNvPr id="6" name="Group 6"/>
          <p:cNvGrpSpPr/>
          <p:nvPr/>
        </p:nvGrpSpPr>
        <p:grpSpPr>
          <a:xfrm>
            <a:off x="8105840" y="7482683"/>
            <a:ext cx="2476476" cy="558435"/>
            <a:chOff x="0" y="0"/>
            <a:chExt cx="652241" cy="147077"/>
          </a:xfrm>
        </p:grpSpPr>
        <p:sp>
          <p:nvSpPr>
            <p:cNvPr id="7" name="Freeform 7"/>
            <p:cNvSpPr/>
            <p:nvPr/>
          </p:nvSpPr>
          <p:spPr>
            <a:xfrm>
              <a:off x="0" y="0"/>
              <a:ext cx="652241" cy="147077"/>
            </a:xfrm>
            <a:custGeom>
              <a:avLst/>
              <a:gdLst/>
              <a:ahLst/>
              <a:cxnLst/>
              <a:rect l="l" t="t" r="r" b="b"/>
              <a:pathLst>
                <a:path w="652241" h="147077">
                  <a:moveTo>
                    <a:pt x="73539" y="0"/>
                  </a:moveTo>
                  <a:lnTo>
                    <a:pt x="578702" y="0"/>
                  </a:lnTo>
                  <a:cubicBezTo>
                    <a:pt x="598205" y="0"/>
                    <a:pt x="616910" y="7748"/>
                    <a:pt x="630702" y="21539"/>
                  </a:cubicBezTo>
                  <a:cubicBezTo>
                    <a:pt x="644493" y="35330"/>
                    <a:pt x="652241" y="54035"/>
                    <a:pt x="652241" y="73539"/>
                  </a:cubicBezTo>
                  <a:lnTo>
                    <a:pt x="652241" y="73539"/>
                  </a:lnTo>
                  <a:cubicBezTo>
                    <a:pt x="652241" y="114153"/>
                    <a:pt x="619316" y="147077"/>
                    <a:pt x="578702"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0" y="-57150"/>
              <a:ext cx="652241" cy="204227"/>
            </a:xfrm>
            <a:prstGeom prst="rect">
              <a:avLst/>
            </a:prstGeom>
          </p:spPr>
          <p:txBody>
            <a:bodyPr lIns="50800" tIns="50800" rIns="50800" bIns="50800" rtlCol="0" anchor="ctr"/>
            <a:lstStyle/>
            <a:p>
              <a:pPr algn="ctr">
                <a:lnSpc>
                  <a:spcPts val="2810"/>
                </a:lnSpc>
              </a:pPr>
            </a:p>
          </p:txBody>
        </p:sp>
      </p:grpSp>
      <p:grpSp>
        <p:nvGrpSpPr>
          <p:cNvPr id="9" name="Group 9"/>
          <p:cNvGrpSpPr/>
          <p:nvPr/>
        </p:nvGrpSpPr>
        <p:grpSpPr>
          <a:xfrm rot="-2536899">
            <a:off x="16461218" y="9112447"/>
            <a:ext cx="3086100" cy="2349107"/>
            <a:chOff x="0" y="0"/>
            <a:chExt cx="812800" cy="618695"/>
          </a:xfrm>
        </p:grpSpPr>
        <p:sp>
          <p:nvSpPr>
            <p:cNvPr id="10" name="Freeform 10"/>
            <p:cNvSpPr/>
            <p:nvPr/>
          </p:nvSpPr>
          <p:spPr>
            <a:xfrm>
              <a:off x="0" y="0"/>
              <a:ext cx="812800" cy="618695"/>
            </a:xfrm>
            <a:custGeom>
              <a:avLst/>
              <a:gdLst/>
              <a:ahLst/>
              <a:cxnLst/>
              <a:rect l="l" t="t" r="r" b="b"/>
              <a:pathLst>
                <a:path w="812800" h="618695">
                  <a:moveTo>
                    <a:pt x="0" y="0"/>
                  </a:moveTo>
                  <a:lnTo>
                    <a:pt x="812800" y="0"/>
                  </a:lnTo>
                  <a:lnTo>
                    <a:pt x="812800" y="618695"/>
                  </a:lnTo>
                  <a:lnTo>
                    <a:pt x="0" y="618695"/>
                  </a:ln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1" name="TextBox 11"/>
            <p:cNvSpPr txBox="1"/>
            <p:nvPr/>
          </p:nvSpPr>
          <p:spPr>
            <a:xfrm>
              <a:off x="0" y="-57150"/>
              <a:ext cx="812800" cy="675845"/>
            </a:xfrm>
            <a:prstGeom prst="rect">
              <a:avLst/>
            </a:prstGeom>
          </p:spPr>
          <p:txBody>
            <a:bodyPr lIns="50800" tIns="50800" rIns="50800" bIns="50800" rtlCol="0" anchor="ctr"/>
            <a:lstStyle/>
            <a:p>
              <a:pPr algn="ctr">
                <a:lnSpc>
                  <a:spcPts val="2810"/>
                </a:lnSpc>
              </a:pPr>
            </a:p>
          </p:txBody>
        </p:sp>
      </p:grpSp>
      <p:grpSp>
        <p:nvGrpSpPr>
          <p:cNvPr id="12" name="Group 12"/>
          <p:cNvGrpSpPr/>
          <p:nvPr/>
        </p:nvGrpSpPr>
        <p:grpSpPr>
          <a:xfrm rot="-2536899">
            <a:off x="-1895934" y="-844380"/>
            <a:ext cx="4920099" cy="2349107"/>
            <a:chOff x="0" y="0"/>
            <a:chExt cx="1295829" cy="618695"/>
          </a:xfrm>
        </p:grpSpPr>
        <p:sp>
          <p:nvSpPr>
            <p:cNvPr id="13" name="Freeform 13"/>
            <p:cNvSpPr/>
            <p:nvPr/>
          </p:nvSpPr>
          <p:spPr>
            <a:xfrm>
              <a:off x="0" y="0"/>
              <a:ext cx="1295829" cy="618695"/>
            </a:xfrm>
            <a:custGeom>
              <a:avLst/>
              <a:gdLst/>
              <a:ahLst/>
              <a:cxnLst/>
              <a:rect l="l" t="t" r="r" b="b"/>
              <a:pathLst>
                <a:path w="1295829" h="618695">
                  <a:moveTo>
                    <a:pt x="0" y="0"/>
                  </a:moveTo>
                  <a:lnTo>
                    <a:pt x="1295829" y="0"/>
                  </a:lnTo>
                  <a:lnTo>
                    <a:pt x="1295829" y="618695"/>
                  </a:lnTo>
                  <a:lnTo>
                    <a:pt x="0" y="618695"/>
                  </a:ln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4" name="TextBox 14"/>
            <p:cNvSpPr txBox="1"/>
            <p:nvPr/>
          </p:nvSpPr>
          <p:spPr>
            <a:xfrm>
              <a:off x="0" y="-57150"/>
              <a:ext cx="1295829" cy="675845"/>
            </a:xfrm>
            <a:prstGeom prst="rect">
              <a:avLst/>
            </a:prstGeom>
          </p:spPr>
          <p:txBody>
            <a:bodyPr lIns="50800" tIns="50800" rIns="50800" bIns="50800" rtlCol="0" anchor="ctr"/>
            <a:lstStyle/>
            <a:p>
              <a:pPr algn="ctr">
                <a:lnSpc>
                  <a:spcPts val="2810"/>
                </a:lnSpc>
              </a:pPr>
            </a:p>
          </p:txBody>
        </p:sp>
      </p:grpSp>
      <p:grpSp>
        <p:nvGrpSpPr>
          <p:cNvPr id="15" name="Group 15"/>
          <p:cNvGrpSpPr/>
          <p:nvPr/>
        </p:nvGrpSpPr>
        <p:grpSpPr>
          <a:xfrm>
            <a:off x="6038482" y="1028700"/>
            <a:ext cx="6211035" cy="558435"/>
            <a:chOff x="0" y="0"/>
            <a:chExt cx="1635828" cy="147077"/>
          </a:xfrm>
        </p:grpSpPr>
        <p:sp>
          <p:nvSpPr>
            <p:cNvPr id="16" name="Freeform 16"/>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7" name="TextBox 17"/>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grpSp>
        <p:nvGrpSpPr>
          <p:cNvPr id="18" name="Group 18"/>
          <p:cNvGrpSpPr/>
          <p:nvPr/>
        </p:nvGrpSpPr>
        <p:grpSpPr>
          <a:xfrm rot="-2536899">
            <a:off x="14833640" y="9783921"/>
            <a:ext cx="3086100" cy="116363"/>
            <a:chOff x="0" y="0"/>
            <a:chExt cx="812800" cy="30647"/>
          </a:xfrm>
        </p:grpSpPr>
        <p:sp>
          <p:nvSpPr>
            <p:cNvPr id="19" name="Freeform 19"/>
            <p:cNvSpPr/>
            <p:nvPr/>
          </p:nvSpPr>
          <p:spPr>
            <a:xfrm>
              <a:off x="0" y="0"/>
              <a:ext cx="812800" cy="30647"/>
            </a:xfrm>
            <a:custGeom>
              <a:avLst/>
              <a:gdLst/>
              <a:ahLst/>
              <a:cxnLst/>
              <a:rect l="l" t="t" r="r" b="b"/>
              <a:pathLst>
                <a:path w="812800" h="30647">
                  <a:moveTo>
                    <a:pt x="0" y="0"/>
                  </a:moveTo>
                  <a:lnTo>
                    <a:pt x="812800" y="0"/>
                  </a:lnTo>
                  <a:lnTo>
                    <a:pt x="812800" y="30647"/>
                  </a:lnTo>
                  <a:lnTo>
                    <a:pt x="0" y="30647"/>
                  </a:lnTo>
                  <a:close/>
                </a:path>
              </a:pathLst>
            </a:custGeom>
            <a:solidFill>
              <a:srgbClr val="FFFFFF"/>
            </a:solidFill>
          </p:spPr>
          <p:txBody>
            <a:bodyPr/>
            <a:lstStyle/>
            <a:p>
              <a:endParaRPr lang="en-US"/>
            </a:p>
          </p:txBody>
        </p:sp>
        <p:sp>
          <p:nvSpPr>
            <p:cNvPr id="20" name="TextBox 20"/>
            <p:cNvSpPr txBox="1"/>
            <p:nvPr/>
          </p:nvSpPr>
          <p:spPr>
            <a:xfrm>
              <a:off x="0" y="-57150"/>
              <a:ext cx="812800" cy="87797"/>
            </a:xfrm>
            <a:prstGeom prst="rect">
              <a:avLst/>
            </a:prstGeom>
          </p:spPr>
          <p:txBody>
            <a:bodyPr lIns="50800" tIns="50800" rIns="50800" bIns="50800" rtlCol="0" anchor="ctr"/>
            <a:lstStyle/>
            <a:p>
              <a:pPr algn="ctr">
                <a:lnSpc>
                  <a:spcPts val="2810"/>
                </a:lnSpc>
              </a:pPr>
            </a:p>
          </p:txBody>
        </p:sp>
      </p:grpSp>
      <p:grpSp>
        <p:nvGrpSpPr>
          <p:cNvPr id="21" name="Group 21"/>
          <p:cNvGrpSpPr/>
          <p:nvPr/>
        </p:nvGrpSpPr>
        <p:grpSpPr>
          <a:xfrm rot="-2536899">
            <a:off x="902181" y="447782"/>
            <a:ext cx="3086100" cy="116363"/>
            <a:chOff x="0" y="0"/>
            <a:chExt cx="812800" cy="30647"/>
          </a:xfrm>
        </p:grpSpPr>
        <p:sp>
          <p:nvSpPr>
            <p:cNvPr id="22" name="Freeform 22"/>
            <p:cNvSpPr/>
            <p:nvPr/>
          </p:nvSpPr>
          <p:spPr>
            <a:xfrm>
              <a:off x="0" y="0"/>
              <a:ext cx="812800" cy="30647"/>
            </a:xfrm>
            <a:custGeom>
              <a:avLst/>
              <a:gdLst/>
              <a:ahLst/>
              <a:cxnLst/>
              <a:rect l="l" t="t" r="r" b="b"/>
              <a:pathLst>
                <a:path w="812800" h="30647">
                  <a:moveTo>
                    <a:pt x="0" y="0"/>
                  </a:moveTo>
                  <a:lnTo>
                    <a:pt x="812800" y="0"/>
                  </a:lnTo>
                  <a:lnTo>
                    <a:pt x="812800" y="30647"/>
                  </a:lnTo>
                  <a:lnTo>
                    <a:pt x="0" y="30647"/>
                  </a:lnTo>
                  <a:close/>
                </a:path>
              </a:pathLst>
            </a:custGeom>
            <a:solidFill>
              <a:srgbClr val="FFFFFF"/>
            </a:solidFill>
          </p:spPr>
          <p:txBody>
            <a:bodyPr/>
            <a:lstStyle/>
            <a:p>
              <a:endParaRPr lang="en-US"/>
            </a:p>
          </p:txBody>
        </p:sp>
        <p:sp>
          <p:nvSpPr>
            <p:cNvPr id="23" name="TextBox 23"/>
            <p:cNvSpPr txBox="1"/>
            <p:nvPr/>
          </p:nvSpPr>
          <p:spPr>
            <a:xfrm>
              <a:off x="0" y="-57150"/>
              <a:ext cx="812800" cy="87797"/>
            </a:xfrm>
            <a:prstGeom prst="rect">
              <a:avLst/>
            </a:prstGeom>
          </p:spPr>
          <p:txBody>
            <a:bodyPr lIns="50800" tIns="50800" rIns="50800" bIns="50800" rtlCol="0" anchor="ctr"/>
            <a:lstStyle/>
            <a:p>
              <a:pPr algn="ctr">
                <a:lnSpc>
                  <a:spcPts val="2810"/>
                </a:lnSpc>
              </a:pPr>
            </a:p>
          </p:txBody>
        </p:sp>
      </p:grpSp>
      <p:sp>
        <p:nvSpPr>
          <p:cNvPr id="24" name="Freeform 24"/>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6" name="TextBox 26"/>
          <p:cNvSpPr txBox="1"/>
          <p:nvPr/>
        </p:nvSpPr>
        <p:spPr>
          <a:xfrm>
            <a:off x="5581756" y="7537256"/>
            <a:ext cx="7524644" cy="426399"/>
          </a:xfrm>
          <a:prstGeom prst="rect">
            <a:avLst/>
          </a:prstGeom>
        </p:spPr>
        <p:txBody>
          <a:bodyPr wrap="square" lIns="0" tIns="0" rIns="0" bIns="0" rtlCol="0" anchor="t">
            <a:spAutoFit/>
          </a:bodyPr>
          <a:lstStyle/>
          <a:p>
            <a:pPr algn="ctr">
              <a:lnSpc>
                <a:spcPts val="3375"/>
              </a:lnSpc>
            </a:pPr>
            <a:r>
              <a:rPr lang="en-US" sz="2770" b="1" spc="-141" dirty="0">
                <a:solidFill>
                  <a:srgbClr val="FFFFFF"/>
                </a:solidFill>
                <a:latin typeface="Poppins Bold" panose="00000800000000000000"/>
                <a:ea typeface="Poppins Bold" panose="00000800000000000000"/>
                <a:cs typeface="Poppins Bold" panose="00000800000000000000"/>
                <a:sym typeface="Poppins Bold" panose="00000800000000000000"/>
              </a:rPr>
              <a:t>Start Slide</a:t>
            </a:r>
            <a:endParaRPr lang="en-US" sz="2770" b="1" spc="-141" dirty="0">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30" name="TextBox 30"/>
          <p:cNvSpPr txBox="1"/>
          <p:nvPr/>
        </p:nvSpPr>
        <p:spPr>
          <a:xfrm>
            <a:off x="7238191" y="1122903"/>
            <a:ext cx="4029752" cy="359073"/>
          </a:xfrm>
          <a:prstGeom prst="rect">
            <a:avLst/>
          </a:prstGeom>
        </p:spPr>
        <p:txBody>
          <a:bodyPr wrap="square" lIns="0" tIns="0" rIns="0" bIns="0" rtlCol="0" anchor="t">
            <a:spAutoFit/>
          </a:bodyPr>
          <a:lstStyle/>
          <a:p>
            <a:pPr algn="ctr">
              <a:lnSpc>
                <a:spcPts val="2800"/>
              </a:lnSpc>
              <a:spcBef>
                <a:spcPct val="0"/>
              </a:spcBef>
            </a:pPr>
            <a:r>
              <a:rPr lang="en-US" sz="2800" b="1" dirty="0">
                <a:solidFill>
                  <a:srgbClr val="FFFFFF"/>
                </a:solidFill>
                <a:latin typeface="Poppins" panose="00000500000000000000"/>
                <a:ea typeface="Poppins" panose="00000500000000000000"/>
                <a:cs typeface="Poppins" panose="00000500000000000000"/>
                <a:sym typeface="Poppins" panose="00000500000000000000"/>
              </a:rPr>
              <a:t>Our Topic</a:t>
            </a:r>
            <a:endParaRPr lang="en-US" sz="2800" b="1" dirty="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1" name="Freeform 31"/>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604970"/>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dirty="0"/>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0417631" y="2284671"/>
            <a:ext cx="6769570" cy="676957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3" name="Group 13"/>
          <p:cNvGrpSpPr/>
          <p:nvPr/>
        </p:nvGrpSpPr>
        <p:grpSpPr>
          <a:xfrm>
            <a:off x="10641724" y="2500572"/>
            <a:ext cx="6321384" cy="632138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r="-25046"/>
              </a:stretch>
            </a:blipFill>
          </p:spPr>
          <p:txBody>
            <a:bodyPr/>
            <a:lstStyle/>
            <a:p>
              <a:endParaRPr lang="en-US"/>
            </a:p>
          </p:txBody>
        </p:sp>
      </p:grpSp>
      <p:grpSp>
        <p:nvGrpSpPr>
          <p:cNvPr id="15" name="Group 15"/>
          <p:cNvGrpSpPr/>
          <p:nvPr/>
        </p:nvGrpSpPr>
        <p:grpSpPr>
          <a:xfrm>
            <a:off x="15070180" y="6929028"/>
            <a:ext cx="1892928" cy="189292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a:ln cap="sq">
              <a:noFill/>
              <a:prstDash val="solid"/>
              <a:miter/>
            </a:ln>
          </p:spPr>
          <p:txBody>
            <a:bodyPr/>
            <a:lstStyle/>
            <a:p>
              <a:endParaRPr lang="en-US"/>
            </a:p>
          </p:txBody>
        </p:sp>
        <p:sp>
          <p:nvSpPr>
            <p:cNvPr id="17" name="TextBox 17"/>
            <p:cNvSpPr txBox="1"/>
            <p:nvPr/>
          </p:nvSpPr>
          <p:spPr>
            <a:xfrm>
              <a:off x="76200" y="19050"/>
              <a:ext cx="660400" cy="717550"/>
            </a:xfrm>
            <a:prstGeom prst="rect">
              <a:avLst/>
            </a:prstGeom>
          </p:spPr>
          <p:txBody>
            <a:bodyPr lIns="50800" tIns="50800" rIns="50800" bIns="50800" rtlCol="0" anchor="ctr"/>
            <a:lstStyle/>
            <a:p>
              <a:pPr marL="0" lvl="0" indent="0" algn="ctr">
                <a:lnSpc>
                  <a:spcPts val="2810"/>
                </a:lnSpc>
                <a:spcBef>
                  <a:spcPct val="0"/>
                </a:spcBef>
              </a:pPr>
            </a:p>
          </p:txBody>
        </p:sp>
      </p:grpSp>
      <p:sp>
        <p:nvSpPr>
          <p:cNvPr id="18" name="Freeform 18"/>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a:off x="15529905" y="7388753"/>
            <a:ext cx="973478" cy="973478"/>
          </a:xfrm>
          <a:custGeom>
            <a:avLst/>
            <a:gdLst/>
            <a:ahLst/>
            <a:cxnLst/>
            <a:rect l="l" t="t" r="r" b="b"/>
            <a:pathLst>
              <a:path w="973478" h="973478">
                <a:moveTo>
                  <a:pt x="0" y="0"/>
                </a:moveTo>
                <a:lnTo>
                  <a:pt x="973478" y="0"/>
                </a:lnTo>
                <a:lnTo>
                  <a:pt x="973478" y="973478"/>
                </a:lnTo>
                <a:lnTo>
                  <a:pt x="0" y="9734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2" name="TextBox 22"/>
          <p:cNvSpPr txBox="1"/>
          <p:nvPr/>
        </p:nvSpPr>
        <p:spPr>
          <a:xfrm>
            <a:off x="6474713" y="1122903"/>
            <a:ext cx="4577565" cy="398571"/>
          </a:xfrm>
          <a:prstGeom prst="rect">
            <a:avLst/>
          </a:prstGeom>
        </p:spPr>
        <p:txBody>
          <a:bodyPr wrap="square" lIns="0" tIns="0" rIns="0" bIns="0" rtlCol="0" anchor="t">
            <a:spAutoFit/>
          </a:bodyPr>
          <a:lstStyle/>
          <a:p>
            <a:pPr algn="ctr">
              <a:lnSpc>
                <a:spcPts val="2800"/>
              </a:lnSpc>
              <a:spcBef>
                <a:spcPct val="0"/>
              </a:spcBef>
            </a:pPr>
            <a:r>
              <a:rPr lang="en-US" sz="3600" b="1" dirty="0">
                <a:solidFill>
                  <a:srgbClr val="FFFFFF"/>
                </a:solidFill>
                <a:latin typeface="Poppins" panose="00000500000000000000"/>
                <a:ea typeface="Poppins" panose="00000500000000000000"/>
                <a:cs typeface="Poppins" panose="00000500000000000000"/>
                <a:sym typeface="Poppins" panose="00000500000000000000"/>
              </a:rPr>
              <a:t>	Our Team</a:t>
            </a:r>
            <a:endParaRPr lang="en-US" sz="3600" b="1" dirty="0">
              <a:solidFill>
                <a:srgbClr val="FFFFFF"/>
              </a:solidFill>
              <a:latin typeface="Poppins" panose="00000500000000000000"/>
              <a:ea typeface="Poppins" panose="00000500000000000000"/>
              <a:cs typeface="Poppins" panose="00000500000000000000"/>
              <a:sym typeface="Poppins" panose="00000500000000000000"/>
            </a:endParaRPr>
          </a:p>
        </p:txBody>
      </p:sp>
      <p:graphicFrame>
        <p:nvGraphicFramePr>
          <p:cNvPr id="26" name="Table 25"/>
          <p:cNvGraphicFramePr>
            <a:graphicFrameLocks noGrp="1"/>
          </p:cNvGraphicFramePr>
          <p:nvPr/>
        </p:nvGraphicFramePr>
        <p:xfrm>
          <a:off x="533400" y="3619500"/>
          <a:ext cx="9729123" cy="3458690"/>
        </p:xfrm>
        <a:graphic>
          <a:graphicData uri="http://schemas.openxmlformats.org/drawingml/2006/table">
            <a:tbl>
              <a:tblPr firstRow="1" bandRow="1">
                <a:tableStyleId>{5C22544A-7EE6-4342-B048-85BDC9FD1C3A}</a:tableStyleId>
              </a:tblPr>
              <a:tblGrid>
                <a:gridCol w="4953000"/>
                <a:gridCol w="4776123"/>
              </a:tblGrid>
              <a:tr h="575914">
                <a:tc>
                  <a:txBody>
                    <a:bodyPr/>
                    <a:lstStyle/>
                    <a:p>
                      <a:pPr algn="ctr"/>
                      <a:r>
                        <a:rPr lang="en-US" sz="3200" dirty="0">
                          <a:latin typeface="Poppins Bold" panose="00000800000000000000" charset="0"/>
                          <a:cs typeface="Poppins Bold" panose="00000800000000000000" charset="0"/>
                        </a:rPr>
                        <a:t>Name</a:t>
                      </a:r>
                      <a:endParaRPr lang="en-US" sz="3200" dirty="0">
                        <a:latin typeface="Poppins Bold" panose="00000800000000000000" charset="0"/>
                        <a:cs typeface="Poppins Bold" panose="00000800000000000000" charset="0"/>
                      </a:endParaRPr>
                    </a:p>
                  </a:txBody>
                  <a:tcPr/>
                </a:tc>
                <a:tc>
                  <a:txBody>
                    <a:bodyPr/>
                    <a:lstStyle/>
                    <a:p>
                      <a:pPr algn="ctr"/>
                      <a:r>
                        <a:rPr lang="en-US" sz="3200" dirty="0">
                          <a:latin typeface="Poppins Bold" panose="00000800000000000000" charset="0"/>
                          <a:cs typeface="Poppins Bold" panose="00000800000000000000" charset="0"/>
                        </a:rPr>
                        <a:t>Code</a:t>
                      </a:r>
                      <a:endParaRPr lang="en-US" sz="3200" dirty="0">
                        <a:latin typeface="Poppins Bold" panose="00000800000000000000" charset="0"/>
                        <a:cs typeface="Poppins Bold" panose="00000800000000000000" charset="0"/>
                      </a:endParaRPr>
                    </a:p>
                  </a:txBody>
                  <a:tcPr/>
                </a:tc>
              </a:tr>
              <a:tr h="575914">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b="1" i="1" dirty="0">
                          <a:latin typeface="Poppins Bold" panose="00000800000000000000" charset="0"/>
                          <a:cs typeface="Poppins Bold" panose="00000800000000000000" charset="0"/>
                        </a:rPr>
                        <a:t>Menna Ali Mohamed</a:t>
                      </a:r>
                      <a:endParaRPr lang="en-US" sz="2400" b="1" i="1" dirty="0">
                        <a:latin typeface="Poppins Bold" panose="00000800000000000000" charset="0"/>
                        <a:cs typeface="Poppins Bold" panose="00000800000000000000" charset="0"/>
                      </a:endParaRPr>
                    </a:p>
                  </a:txBody>
                  <a:tcPr/>
                </a:tc>
                <a:tc>
                  <a:txBody>
                    <a:bodyPr/>
                    <a:lstStyle/>
                    <a:p>
                      <a:pPr algn="ctr"/>
                      <a:r>
                        <a:rPr lang="en-US" sz="2400" b="1" i="1" dirty="0">
                          <a:latin typeface="Poppins Bold" panose="00000800000000000000" charset="0"/>
                          <a:cs typeface="Poppins Bold" panose="00000800000000000000" charset="0"/>
                        </a:rPr>
                        <a:t>624110</a:t>
                      </a:r>
                      <a:endParaRPr lang="en-US" sz="2400" b="1" i="1" dirty="0">
                        <a:latin typeface="Poppins Bold" panose="00000800000000000000" charset="0"/>
                        <a:cs typeface="Poppins Bold" panose="00000800000000000000" charset="0"/>
                      </a:endParaRPr>
                    </a:p>
                  </a:txBody>
                  <a:tcPr/>
                </a:tc>
              </a:tr>
              <a:tr h="575914">
                <a:tc>
                  <a:txBody>
                    <a:bodyPr/>
                    <a:lstStyle/>
                    <a:p>
                      <a:pPr algn="ctr"/>
                      <a:r>
                        <a:rPr lang="en-US" sz="2400" b="1" i="1" dirty="0">
                          <a:latin typeface="Poppins Bold" panose="00000800000000000000" charset="0"/>
                          <a:cs typeface="Poppins Bold" panose="00000800000000000000" charset="0"/>
                        </a:rPr>
                        <a:t>Hayam Karam Maher</a:t>
                      </a:r>
                      <a:endParaRPr lang="en-US" sz="2400" b="1" i="1" dirty="0">
                        <a:latin typeface="Poppins Bold" panose="00000800000000000000" charset="0"/>
                        <a:cs typeface="Poppins Bold" panose="00000800000000000000" charset="0"/>
                      </a:endParaRPr>
                    </a:p>
                  </a:txBody>
                  <a:tcPr/>
                </a:tc>
                <a:tc>
                  <a:txBody>
                    <a:bodyPr/>
                    <a:lstStyle/>
                    <a:p>
                      <a:pPr algn="ctr"/>
                      <a:r>
                        <a:rPr lang="en-US" sz="2400" b="1" i="1" dirty="0">
                          <a:latin typeface="Poppins Bold" panose="00000800000000000000" charset="0"/>
                          <a:cs typeface="Poppins Bold" panose="00000800000000000000" charset="0"/>
                        </a:rPr>
                        <a:t>624064</a:t>
                      </a:r>
                      <a:endParaRPr lang="en-US" sz="2400" b="1" i="1" dirty="0">
                        <a:latin typeface="Poppins Bold" panose="00000800000000000000" charset="0"/>
                        <a:cs typeface="Poppins Bold" panose="00000800000000000000" charset="0"/>
                      </a:endParaRPr>
                    </a:p>
                  </a:txBody>
                  <a:tcPr/>
                </a:tc>
              </a:tr>
              <a:tr h="575914">
                <a:tc>
                  <a:txBody>
                    <a:bodyPr/>
                    <a:lstStyle/>
                    <a:p>
                      <a:pPr algn="ctr"/>
                      <a:r>
                        <a:rPr lang="en-US" sz="2400" b="1" i="1" dirty="0">
                          <a:latin typeface="Poppins Bold" panose="00000800000000000000" charset="0"/>
                          <a:cs typeface="Poppins Bold" panose="00000800000000000000" charset="0"/>
                        </a:rPr>
                        <a:t>Hasnaa </a:t>
                      </a:r>
                      <a:r>
                        <a:rPr lang="en-US" sz="2400" b="1" i="1" dirty="0" err="1">
                          <a:latin typeface="Poppins Bold" panose="00000800000000000000" charset="0"/>
                          <a:cs typeface="Poppins Bold" panose="00000800000000000000" charset="0"/>
                        </a:rPr>
                        <a:t>Eraky</a:t>
                      </a:r>
                      <a:r>
                        <a:rPr lang="en-US" sz="2400" b="1" i="1" dirty="0">
                          <a:latin typeface="Poppins Bold" panose="00000800000000000000" charset="0"/>
                          <a:cs typeface="Poppins Bold" panose="00000800000000000000" charset="0"/>
                        </a:rPr>
                        <a:t> Nagah</a:t>
                      </a:r>
                      <a:endParaRPr lang="en-US" sz="2400" b="1" i="1" dirty="0">
                        <a:latin typeface="Poppins Bold" panose="00000800000000000000" charset="0"/>
                        <a:cs typeface="Poppins Bold" panose="00000800000000000000" charset="0"/>
                      </a:endParaRPr>
                    </a:p>
                  </a:txBody>
                  <a:tcPr/>
                </a:tc>
                <a:tc>
                  <a:txBody>
                    <a:bodyPr/>
                    <a:lstStyle/>
                    <a:p>
                      <a:pPr algn="ctr"/>
                      <a:r>
                        <a:rPr lang="en-US" sz="2400" b="1" i="1" dirty="0">
                          <a:latin typeface="Poppins Bold" panose="00000800000000000000" charset="0"/>
                          <a:cs typeface="Poppins Bold" panose="00000800000000000000" charset="0"/>
                        </a:rPr>
                        <a:t>624042</a:t>
                      </a:r>
                      <a:endParaRPr lang="en-US" sz="2400" b="1" i="1" dirty="0">
                        <a:latin typeface="Poppins Bold" panose="00000800000000000000" charset="0"/>
                        <a:cs typeface="Poppins Bold" panose="00000800000000000000" charset="0"/>
                      </a:endParaRPr>
                    </a:p>
                  </a:txBody>
                  <a:tcPr/>
                </a:tc>
              </a:tr>
              <a:tr h="575914">
                <a:tc>
                  <a:txBody>
                    <a:bodyPr/>
                    <a:lstStyle/>
                    <a:p>
                      <a:pPr algn="ctr"/>
                      <a:r>
                        <a:rPr lang="en-US" sz="2400" b="1" i="1" dirty="0">
                          <a:latin typeface="Poppins Bold" panose="00000800000000000000" charset="0"/>
                          <a:cs typeface="Poppins Bold" panose="00000800000000000000" charset="0"/>
                        </a:rPr>
                        <a:t>Haidy Abdelmoniem Ahmed</a:t>
                      </a:r>
                      <a:endParaRPr lang="en-US" sz="2400" b="1" i="1" dirty="0">
                        <a:latin typeface="Poppins Bold" panose="00000800000000000000" charset="0"/>
                        <a:cs typeface="Poppins Bold" panose="00000800000000000000" charset="0"/>
                      </a:endParaRPr>
                    </a:p>
                  </a:txBody>
                  <a:tcPr/>
                </a:tc>
                <a:tc>
                  <a:txBody>
                    <a:bodyPr/>
                    <a:lstStyle/>
                    <a:p>
                      <a:pPr algn="ctr"/>
                      <a:r>
                        <a:rPr lang="en-US" sz="2400" b="1" i="1" dirty="0">
                          <a:latin typeface="Poppins Bold" panose="00000800000000000000" charset="0"/>
                          <a:cs typeface="Poppins Bold" panose="00000800000000000000" charset="0"/>
                        </a:rPr>
                        <a:t>624010</a:t>
                      </a:r>
                      <a:endParaRPr lang="en-US" sz="2400" b="1" i="1" dirty="0">
                        <a:latin typeface="Poppins Bold" panose="00000800000000000000" charset="0"/>
                        <a:cs typeface="Poppins Bold" panose="00000800000000000000" charset="0"/>
                      </a:endParaRPr>
                    </a:p>
                  </a:txBody>
                  <a:tcPr/>
                </a:tc>
              </a:tr>
              <a:tr h="575914">
                <a:tc>
                  <a:txBody>
                    <a:bodyPr/>
                    <a:lstStyle/>
                    <a:p>
                      <a:pPr algn="ctr"/>
                      <a:r>
                        <a:rPr lang="en-US" sz="2400" b="1" i="1" dirty="0">
                          <a:latin typeface="Poppins Bold" panose="00000800000000000000" charset="0"/>
                          <a:cs typeface="Poppins Bold" panose="00000800000000000000" charset="0"/>
                        </a:rPr>
                        <a:t>Mariam Amin Ali</a:t>
                      </a:r>
                      <a:endParaRPr lang="en-US" sz="2400" b="1" i="1" dirty="0">
                        <a:latin typeface="Poppins Bold" panose="00000800000000000000" charset="0"/>
                        <a:cs typeface="Poppins Bold" panose="00000800000000000000" charset="0"/>
                      </a:endParaRPr>
                    </a:p>
                  </a:txBody>
                  <a:tcPr/>
                </a:tc>
                <a:tc>
                  <a:txBody>
                    <a:bodyPr/>
                    <a:lstStyle/>
                    <a:p>
                      <a:pPr algn="ctr"/>
                      <a:r>
                        <a:rPr lang="en-US" sz="2400" b="1" i="1" dirty="0">
                          <a:latin typeface="Poppins Bold" panose="00000800000000000000" charset="0"/>
                          <a:cs typeface="Poppins Bold" panose="00000800000000000000" charset="0"/>
                        </a:rPr>
                        <a:t>624021</a:t>
                      </a:r>
                      <a:endParaRPr lang="en-US" sz="2400" b="1" i="1" dirty="0">
                        <a:latin typeface="Poppins Bold" panose="00000800000000000000" charset="0"/>
                        <a:cs typeface="Poppins Bold" panose="00000800000000000000"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9435394" y="5876247"/>
            <a:ext cx="273778" cy="27377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9435394" y="2880257"/>
            <a:ext cx="7314896" cy="2334742"/>
          </a:xfrm>
          <a:prstGeom prst="rect">
            <a:avLst/>
          </a:prstGeom>
        </p:spPr>
        <p:txBody>
          <a:bodyPr lIns="0" tIns="0" rIns="0" bIns="0" rtlCol="0" anchor="t">
            <a:spAutoFit/>
          </a:bodyPr>
          <a:lstStyle/>
          <a:p>
            <a:pPr marL="0" lvl="0" indent="0" algn="l">
              <a:lnSpc>
                <a:spcPts val="9175"/>
              </a:lnSpc>
              <a:spcBef>
                <a:spcPct val="0"/>
              </a:spcBef>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Difference Engine(1832).</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3" name="TextBox 13"/>
          <p:cNvSpPr txBox="1"/>
          <p:nvPr/>
        </p:nvSpPr>
        <p:spPr>
          <a:xfrm>
            <a:off x="9859300" y="5805305"/>
            <a:ext cx="3980906" cy="358513"/>
          </a:xfrm>
          <a:prstGeom prst="rect">
            <a:avLst/>
          </a:prstGeom>
        </p:spPr>
        <p:txBody>
          <a:bodyPr lIns="0" tIns="0" rIns="0" bIns="0" rtlCol="0" anchor="t">
            <a:spAutoFit/>
          </a:bodyPr>
          <a:lstStyle/>
          <a:p>
            <a:pPr marL="0" lvl="0" indent="0" algn="l">
              <a:lnSpc>
                <a:spcPts val="2810"/>
              </a:lnSpc>
              <a:spcBef>
                <a:spcPct val="0"/>
              </a:spcBef>
            </a:pP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Hardw</a:t>
            </a:r>
            <a:r>
              <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rPr>
              <a:t>are Components</a:t>
            </a:r>
            <a:endPar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9435394" y="6519210"/>
            <a:ext cx="7734081" cy="1270861"/>
          </a:xfrm>
          <a:prstGeom prst="rect">
            <a:avLst/>
          </a:prstGeom>
        </p:spPr>
        <p:txBody>
          <a:bodyPr lIns="0" tIns="0" rIns="0" bIns="0" rtlCol="0" anchor="t">
            <a:spAutoFit/>
          </a:bodyPr>
          <a:lstStyle/>
          <a:p>
            <a:pPr lvl="0">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One of the first mechanical computers Designed by Charles Babbage Used for automatic calculations Considered the beginning of digital computing</a:t>
            </a:r>
            <a:endParaRPr lang="en-US" sz="2000" u="none" strike="noStrike"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1" y="2781300"/>
            <a:ext cx="7543800" cy="716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7" name="Group 7"/>
          <p:cNvGrpSpPr/>
          <p:nvPr/>
        </p:nvGrpSpPr>
        <p:grpSpPr>
          <a:xfrm>
            <a:off x="1570360" y="6405080"/>
            <a:ext cx="273778" cy="27377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10" name="Freeform 10"/>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1524000" y="2793919"/>
            <a:ext cx="7391400" cy="2334742"/>
          </a:xfrm>
          <a:prstGeom prst="rect">
            <a:avLst/>
          </a:prstGeom>
        </p:spPr>
        <p:txBody>
          <a:bodyPr wrap="square" lIns="0" tIns="0" rIns="0" bIns="0" rtlCol="0" anchor="t">
            <a:spAutoFit/>
          </a:bodyPr>
          <a:lstStyle/>
          <a:p>
            <a:pPr lvl="0">
              <a:lnSpc>
                <a:spcPts val="9175"/>
              </a:lnSpc>
              <a:spcBef>
                <a:spcPct val="0"/>
              </a:spcBef>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Pentium 4 Microprocessor.</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994266" y="6334137"/>
            <a:ext cx="7747020" cy="700448"/>
          </a:xfrm>
          <a:prstGeom prst="rect">
            <a:avLst/>
          </a:prstGeom>
        </p:spPr>
        <p:txBody>
          <a:bodyPr lIns="0" tIns="0" rIns="0" bIns="0" rtlCol="0" anchor="t">
            <a:spAutoFit/>
          </a:bodyPr>
          <a:lstStyle/>
          <a:p>
            <a:pPr>
              <a:lnSpc>
                <a:spcPts val="2810"/>
              </a:lnSpc>
              <a:spcBef>
                <a:spcPct val="0"/>
              </a:spcBef>
            </a:pP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Hardware Components</a:t>
            </a:r>
            <a:endParaRPr lang="en-US" sz="2005" spc="156" dirty="0">
              <a:solidFill>
                <a:srgbClr val="FFFFFF"/>
              </a:solidFill>
              <a:latin typeface="Poppins" panose="00000500000000000000"/>
              <a:ea typeface="Poppins" panose="00000500000000000000"/>
              <a:cs typeface="Poppins" panose="00000500000000000000"/>
              <a:sym typeface="Poppins" panose="00000500000000000000"/>
            </a:endParaRPr>
          </a:p>
          <a:p>
            <a:pPr marL="0" lvl="0" indent="0" algn="l">
              <a:lnSpc>
                <a:spcPts val="2810"/>
              </a:lnSpc>
              <a:spcBef>
                <a:spcPct val="0"/>
              </a:spcBef>
            </a:pPr>
            <a:endPar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570360" y="7048043"/>
            <a:ext cx="7737158" cy="1270861"/>
          </a:xfrm>
          <a:prstGeom prst="rect">
            <a:avLst/>
          </a:prstGeom>
        </p:spPr>
        <p:txBody>
          <a:bodyPr lIns="0" tIns="0" rIns="0" bIns="0" rtlCol="0" anchor="t">
            <a:spAutoFit/>
          </a:bodyPr>
          <a:lstStyle/>
          <a:p>
            <a:pPr lvl="0">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Modern processor design Uses hierarchical design Contains Standard Cell Modules Includes Memory Modules More complex than early processors</a:t>
            </a:r>
            <a:endParaRPr lang="en-US" sz="2000" u="none" strike="noStrike"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39400" y="2709996"/>
            <a:ext cx="7737158" cy="60911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1028700" y="4387104"/>
            <a:ext cx="5318763" cy="3383849"/>
          </a:xfrm>
          <a:prstGeom prst="rect">
            <a:avLst/>
          </a:prstGeom>
        </p:spPr>
        <p:txBody>
          <a:bodyPr lIns="50800" tIns="50800" rIns="50800" bIns="50800" rtlCol="0" anchor="ctr"/>
          <a:lstStyle/>
          <a:p>
            <a:pPr marL="0" lvl="0" indent="0" algn="ctr">
              <a:lnSpc>
                <a:spcPts val="2810"/>
              </a:lnSpc>
              <a:spcBef>
                <a:spcPct val="0"/>
              </a:spcBef>
            </a:pPr>
          </a:p>
        </p:txBody>
      </p:sp>
      <p:sp>
        <p:nvSpPr>
          <p:cNvPr id="13" name="TextBox 13"/>
          <p:cNvSpPr txBox="1"/>
          <p:nvPr/>
        </p:nvSpPr>
        <p:spPr>
          <a:xfrm>
            <a:off x="1828800" y="2624270"/>
            <a:ext cx="14706600" cy="1154932"/>
          </a:xfrm>
          <a:prstGeom prst="rect">
            <a:avLst/>
          </a:prstGeom>
        </p:spPr>
        <p:txBody>
          <a:bodyPr wrap="square" lIns="0" tIns="0" rIns="0" bIns="0" rtlCol="0" anchor="t">
            <a:spAutoFit/>
          </a:bodyPr>
          <a:lstStyle/>
          <a:p>
            <a:pPr lvl="0" algn="ctr">
              <a:lnSpc>
                <a:spcPts val="9175"/>
              </a:lnSpc>
              <a:spcBef>
                <a:spcPct val="0"/>
              </a:spcBef>
            </a:pPr>
            <a:r>
              <a:rPr lang="fr-FR"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Noise Sources in Digital Circuits</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387116" y="4908020"/>
            <a:ext cx="200193" cy="217517"/>
          </a:xfrm>
          <a:prstGeom prst="rect">
            <a:avLst/>
          </a:prstGeom>
        </p:spPr>
        <p:txBody>
          <a:bodyPr lIns="50800" tIns="50800" rIns="50800" bIns="50800" rtlCol="0" anchor="ctr"/>
          <a:lstStyle/>
          <a:p>
            <a:pPr algn="ctr">
              <a:lnSpc>
                <a:spcPts val="2810"/>
              </a:lnSpc>
            </a:pPr>
          </a:p>
        </p:txBody>
      </p:sp>
      <p:grpSp>
        <p:nvGrpSpPr>
          <p:cNvPr id="19" name="Group 19"/>
          <p:cNvGrpSpPr/>
          <p:nvPr/>
        </p:nvGrpSpPr>
        <p:grpSpPr>
          <a:xfrm>
            <a:off x="6484618" y="4582389"/>
            <a:ext cx="5318763" cy="3188564"/>
            <a:chOff x="0" y="0"/>
            <a:chExt cx="1556532" cy="933131"/>
          </a:xfrm>
        </p:grpSpPr>
        <p:sp>
          <p:nvSpPr>
            <p:cNvPr id="20" name="Freeform 20"/>
            <p:cNvSpPr/>
            <p:nvPr/>
          </p:nvSpPr>
          <p:spPr>
            <a:xfrm>
              <a:off x="0" y="0"/>
              <a:ext cx="1556532" cy="933131"/>
            </a:xfrm>
            <a:custGeom>
              <a:avLst/>
              <a:gdLst/>
              <a:ahLst/>
              <a:cxnLst/>
              <a:rect l="l" t="t" r="r" b="b"/>
              <a:pathLst>
                <a:path w="1556532" h="933131">
                  <a:moveTo>
                    <a:pt x="33478" y="0"/>
                  </a:moveTo>
                  <a:lnTo>
                    <a:pt x="1523054" y="0"/>
                  </a:lnTo>
                  <a:cubicBezTo>
                    <a:pt x="1531933" y="0"/>
                    <a:pt x="1540448" y="3527"/>
                    <a:pt x="1546727" y="9806"/>
                  </a:cubicBezTo>
                  <a:cubicBezTo>
                    <a:pt x="1553005" y="16084"/>
                    <a:pt x="1556532" y="24599"/>
                    <a:pt x="1556532" y="33478"/>
                  </a:cubicBezTo>
                  <a:lnTo>
                    <a:pt x="1556532" y="899652"/>
                  </a:lnTo>
                  <a:cubicBezTo>
                    <a:pt x="1556532" y="908531"/>
                    <a:pt x="1553005" y="917047"/>
                    <a:pt x="1546727" y="923325"/>
                  </a:cubicBezTo>
                  <a:cubicBezTo>
                    <a:pt x="1540448" y="929604"/>
                    <a:pt x="1531933" y="933131"/>
                    <a:pt x="1523054" y="933131"/>
                  </a:cubicBezTo>
                  <a:lnTo>
                    <a:pt x="33478" y="933131"/>
                  </a:lnTo>
                  <a:cubicBezTo>
                    <a:pt x="24599" y="933131"/>
                    <a:pt x="16084" y="929604"/>
                    <a:pt x="9806" y="923325"/>
                  </a:cubicBezTo>
                  <a:cubicBezTo>
                    <a:pt x="3527" y="917047"/>
                    <a:pt x="0" y="908531"/>
                    <a:pt x="0" y="899652"/>
                  </a:cubicBezTo>
                  <a:lnTo>
                    <a:pt x="0" y="33478"/>
                  </a:lnTo>
                  <a:cubicBezTo>
                    <a:pt x="0" y="24599"/>
                    <a:pt x="3527" y="16084"/>
                    <a:pt x="9806" y="9806"/>
                  </a:cubicBezTo>
                  <a:cubicBezTo>
                    <a:pt x="16084" y="3527"/>
                    <a:pt x="24599" y="0"/>
                    <a:pt x="33478" y="0"/>
                  </a:cubicBezTo>
                  <a:close/>
                </a:path>
              </a:pathLst>
            </a:custGeom>
            <a:gradFill rotWithShape="1">
              <a:gsLst>
                <a:gs pos="0">
                  <a:srgbClr val="2C3094">
                    <a:alpha val="100000"/>
                  </a:srgbClr>
                </a:gs>
                <a:gs pos="100000">
                  <a:srgbClr val="6B7FE1">
                    <a:alpha val="100000"/>
                  </a:srgbClr>
                </a:gs>
              </a:gsLst>
              <a:lin ang="0"/>
            </a:gradFill>
            <a:ln cap="rnd">
              <a:noFill/>
              <a:prstDash val="solid"/>
              <a:round/>
            </a:ln>
          </p:spPr>
          <p:txBody>
            <a:bodyPr/>
            <a:lstStyle/>
            <a:p>
              <a:endParaRPr lang="en-US"/>
            </a:p>
          </p:txBody>
        </p:sp>
        <p:sp>
          <p:nvSpPr>
            <p:cNvPr id="21" name="TextBox 21"/>
            <p:cNvSpPr txBox="1"/>
            <p:nvPr/>
          </p:nvSpPr>
          <p:spPr>
            <a:xfrm>
              <a:off x="0" y="-57150"/>
              <a:ext cx="1556532" cy="990281"/>
            </a:xfrm>
            <a:prstGeom prst="rect">
              <a:avLst/>
            </a:prstGeom>
          </p:spPr>
          <p:txBody>
            <a:bodyPr lIns="50800" tIns="50800" rIns="50800" bIns="50800" rtlCol="0" anchor="ctr"/>
            <a:lstStyle/>
            <a:p>
              <a:pPr marL="0" lvl="0" indent="0" algn="ctr">
                <a:lnSpc>
                  <a:spcPts val="2810"/>
                </a:lnSpc>
                <a:spcBef>
                  <a:spcPct val="0"/>
                </a:spcBef>
              </a:pPr>
            </a:p>
          </p:txBody>
        </p:sp>
      </p:grpSp>
      <p:grpSp>
        <p:nvGrpSpPr>
          <p:cNvPr id="27" name="Group 27"/>
          <p:cNvGrpSpPr/>
          <p:nvPr/>
        </p:nvGrpSpPr>
        <p:grpSpPr>
          <a:xfrm>
            <a:off x="11940537" y="4582389"/>
            <a:ext cx="5318763" cy="3188564"/>
            <a:chOff x="0" y="0"/>
            <a:chExt cx="1556532" cy="933131"/>
          </a:xfrm>
        </p:grpSpPr>
        <p:sp>
          <p:nvSpPr>
            <p:cNvPr id="28" name="Freeform 28"/>
            <p:cNvSpPr/>
            <p:nvPr/>
          </p:nvSpPr>
          <p:spPr>
            <a:xfrm>
              <a:off x="0" y="0"/>
              <a:ext cx="1556532" cy="933131"/>
            </a:xfrm>
            <a:custGeom>
              <a:avLst/>
              <a:gdLst/>
              <a:ahLst/>
              <a:cxnLst/>
              <a:rect l="l" t="t" r="r" b="b"/>
              <a:pathLst>
                <a:path w="1556532" h="933131">
                  <a:moveTo>
                    <a:pt x="33478" y="0"/>
                  </a:moveTo>
                  <a:lnTo>
                    <a:pt x="1523054" y="0"/>
                  </a:lnTo>
                  <a:cubicBezTo>
                    <a:pt x="1531933" y="0"/>
                    <a:pt x="1540448" y="3527"/>
                    <a:pt x="1546727" y="9806"/>
                  </a:cubicBezTo>
                  <a:cubicBezTo>
                    <a:pt x="1553005" y="16084"/>
                    <a:pt x="1556532" y="24599"/>
                    <a:pt x="1556532" y="33478"/>
                  </a:cubicBezTo>
                  <a:lnTo>
                    <a:pt x="1556532" y="899652"/>
                  </a:lnTo>
                  <a:cubicBezTo>
                    <a:pt x="1556532" y="908531"/>
                    <a:pt x="1553005" y="917047"/>
                    <a:pt x="1546727" y="923325"/>
                  </a:cubicBezTo>
                  <a:cubicBezTo>
                    <a:pt x="1540448" y="929604"/>
                    <a:pt x="1531933" y="933131"/>
                    <a:pt x="1523054" y="933131"/>
                  </a:cubicBezTo>
                  <a:lnTo>
                    <a:pt x="33478" y="933131"/>
                  </a:lnTo>
                  <a:cubicBezTo>
                    <a:pt x="24599" y="933131"/>
                    <a:pt x="16084" y="929604"/>
                    <a:pt x="9806" y="923325"/>
                  </a:cubicBezTo>
                  <a:cubicBezTo>
                    <a:pt x="3527" y="917047"/>
                    <a:pt x="0" y="908531"/>
                    <a:pt x="0" y="899652"/>
                  </a:cubicBezTo>
                  <a:lnTo>
                    <a:pt x="0" y="33478"/>
                  </a:lnTo>
                  <a:cubicBezTo>
                    <a:pt x="0" y="24599"/>
                    <a:pt x="3527" y="16084"/>
                    <a:pt x="9806" y="9806"/>
                  </a:cubicBezTo>
                  <a:cubicBezTo>
                    <a:pt x="16084" y="3527"/>
                    <a:pt x="24599" y="0"/>
                    <a:pt x="33478" y="0"/>
                  </a:cubicBezTo>
                  <a:close/>
                </a:path>
              </a:pathLst>
            </a:custGeom>
            <a:gradFill rotWithShape="1">
              <a:gsLst>
                <a:gs pos="0">
                  <a:srgbClr val="2C3094">
                    <a:alpha val="100000"/>
                  </a:srgbClr>
                </a:gs>
                <a:gs pos="100000">
                  <a:srgbClr val="6B7FE1">
                    <a:alpha val="100000"/>
                  </a:srgbClr>
                </a:gs>
              </a:gsLst>
              <a:lin ang="0"/>
            </a:gradFill>
            <a:ln cap="rnd">
              <a:noFill/>
              <a:prstDash val="solid"/>
              <a:round/>
            </a:ln>
          </p:spPr>
          <p:txBody>
            <a:bodyPr/>
            <a:lstStyle/>
            <a:p>
              <a:endParaRPr lang="en-US"/>
            </a:p>
          </p:txBody>
        </p:sp>
        <p:sp>
          <p:nvSpPr>
            <p:cNvPr id="29" name="TextBox 29"/>
            <p:cNvSpPr txBox="1"/>
            <p:nvPr/>
          </p:nvSpPr>
          <p:spPr>
            <a:xfrm>
              <a:off x="0" y="-57150"/>
              <a:ext cx="1556532" cy="990281"/>
            </a:xfrm>
            <a:prstGeom prst="rect">
              <a:avLst/>
            </a:prstGeom>
          </p:spPr>
          <p:txBody>
            <a:bodyPr lIns="50800" tIns="50800" rIns="50800" bIns="50800" rtlCol="0" anchor="ctr"/>
            <a:lstStyle/>
            <a:p>
              <a:pPr marL="0" lvl="0" indent="0" algn="ctr">
                <a:lnSpc>
                  <a:spcPts val="2810"/>
                </a:lnSpc>
                <a:spcBef>
                  <a:spcPct val="0"/>
                </a:spcBef>
              </a:pPr>
            </a:p>
          </p:txBody>
        </p:sp>
      </p:grpSp>
      <p:sp>
        <p:nvSpPr>
          <p:cNvPr id="35" name="TextBox 35"/>
          <p:cNvSpPr txBox="1"/>
          <p:nvPr/>
        </p:nvSpPr>
        <p:spPr>
          <a:xfrm>
            <a:off x="1981200" y="8125882"/>
            <a:ext cx="14020800" cy="1270861"/>
          </a:xfrm>
          <a:prstGeom prst="rect">
            <a:avLst/>
          </a:prstGeom>
        </p:spPr>
        <p:txBody>
          <a:bodyPr wrap="square" lIns="0" tIns="0" rIns="0" bIns="0" rtlCol="0" anchor="t">
            <a:spAutoFit/>
          </a:bodyPr>
          <a:lstStyle/>
          <a:p>
            <a:pPr lvl="0" algn="ctr">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Inductive coupling: noise due to changing current.</a:t>
            </a:r>
            <a:endPar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a:p>
            <a:pPr lvl="0" algn="ctr">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Capacitive coupling: noise due to nearby conductors.</a:t>
            </a:r>
            <a:endPar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a:p>
            <a:pPr lvl="0" algn="ctr">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Power &amp; ground noise: noise from unstable supply (VDD).</a:t>
            </a:r>
            <a:endParaRPr lang="en-US" sz="2000" u="none" strike="noStrike"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sp>
        <p:nvSpPr>
          <p:cNvPr id="36" name="Freeform 36"/>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9" name="Group 19"/>
          <p:cNvGrpSpPr/>
          <p:nvPr/>
        </p:nvGrpSpPr>
        <p:grpSpPr>
          <a:xfrm>
            <a:off x="1028699" y="4582389"/>
            <a:ext cx="5318763" cy="3188564"/>
            <a:chOff x="0" y="0"/>
            <a:chExt cx="1556532" cy="933131"/>
          </a:xfrm>
        </p:grpSpPr>
        <p:sp>
          <p:nvSpPr>
            <p:cNvPr id="40" name="Freeform 20"/>
            <p:cNvSpPr/>
            <p:nvPr/>
          </p:nvSpPr>
          <p:spPr>
            <a:xfrm>
              <a:off x="0" y="0"/>
              <a:ext cx="1556532" cy="933131"/>
            </a:xfrm>
            <a:custGeom>
              <a:avLst/>
              <a:gdLst/>
              <a:ahLst/>
              <a:cxnLst/>
              <a:rect l="l" t="t" r="r" b="b"/>
              <a:pathLst>
                <a:path w="1556532" h="933131">
                  <a:moveTo>
                    <a:pt x="33478" y="0"/>
                  </a:moveTo>
                  <a:lnTo>
                    <a:pt x="1523054" y="0"/>
                  </a:lnTo>
                  <a:cubicBezTo>
                    <a:pt x="1531933" y="0"/>
                    <a:pt x="1540448" y="3527"/>
                    <a:pt x="1546727" y="9806"/>
                  </a:cubicBezTo>
                  <a:cubicBezTo>
                    <a:pt x="1553005" y="16084"/>
                    <a:pt x="1556532" y="24599"/>
                    <a:pt x="1556532" y="33478"/>
                  </a:cubicBezTo>
                  <a:lnTo>
                    <a:pt x="1556532" y="899652"/>
                  </a:lnTo>
                  <a:cubicBezTo>
                    <a:pt x="1556532" y="908531"/>
                    <a:pt x="1553005" y="917047"/>
                    <a:pt x="1546727" y="923325"/>
                  </a:cubicBezTo>
                  <a:cubicBezTo>
                    <a:pt x="1540448" y="929604"/>
                    <a:pt x="1531933" y="933131"/>
                    <a:pt x="1523054" y="933131"/>
                  </a:cubicBezTo>
                  <a:lnTo>
                    <a:pt x="33478" y="933131"/>
                  </a:lnTo>
                  <a:cubicBezTo>
                    <a:pt x="24599" y="933131"/>
                    <a:pt x="16084" y="929604"/>
                    <a:pt x="9806" y="923325"/>
                  </a:cubicBezTo>
                  <a:cubicBezTo>
                    <a:pt x="3527" y="917047"/>
                    <a:pt x="0" y="908531"/>
                    <a:pt x="0" y="899652"/>
                  </a:cubicBezTo>
                  <a:lnTo>
                    <a:pt x="0" y="33478"/>
                  </a:lnTo>
                  <a:cubicBezTo>
                    <a:pt x="0" y="24599"/>
                    <a:pt x="3527" y="16084"/>
                    <a:pt x="9806" y="9806"/>
                  </a:cubicBezTo>
                  <a:cubicBezTo>
                    <a:pt x="16084" y="3527"/>
                    <a:pt x="24599" y="0"/>
                    <a:pt x="33478" y="0"/>
                  </a:cubicBezTo>
                  <a:close/>
                </a:path>
              </a:pathLst>
            </a:custGeom>
            <a:gradFill rotWithShape="1">
              <a:gsLst>
                <a:gs pos="0">
                  <a:srgbClr val="2C3094">
                    <a:alpha val="100000"/>
                  </a:srgbClr>
                </a:gs>
                <a:gs pos="100000">
                  <a:srgbClr val="6B7FE1">
                    <a:alpha val="100000"/>
                  </a:srgbClr>
                </a:gs>
              </a:gsLst>
              <a:lin ang="0"/>
            </a:gradFill>
            <a:ln cap="rnd">
              <a:noFill/>
              <a:prstDash val="solid"/>
              <a:round/>
            </a:ln>
          </p:spPr>
          <p:txBody>
            <a:bodyPr/>
            <a:lstStyle/>
            <a:p>
              <a:endParaRPr lang="en-US"/>
            </a:p>
          </p:txBody>
        </p:sp>
        <p:sp>
          <p:nvSpPr>
            <p:cNvPr id="41" name="TextBox 21"/>
            <p:cNvSpPr txBox="1"/>
            <p:nvPr/>
          </p:nvSpPr>
          <p:spPr>
            <a:xfrm>
              <a:off x="0" y="-57150"/>
              <a:ext cx="1556532" cy="990281"/>
            </a:xfrm>
            <a:prstGeom prst="rect">
              <a:avLst/>
            </a:prstGeom>
          </p:spPr>
          <p:txBody>
            <a:bodyPr lIns="50800" tIns="50800" rIns="50800" bIns="50800" rtlCol="0" anchor="ctr"/>
            <a:lstStyle/>
            <a:p>
              <a:pPr marL="0" lvl="0" indent="0" algn="ctr">
                <a:lnSpc>
                  <a:spcPts val="2810"/>
                </a:lnSpc>
                <a:spcBef>
                  <a:spcPct val="0"/>
                </a:spcBef>
              </a:pPr>
            </a:p>
          </p:txBody>
        </p:sp>
      </p:grp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698" y="4582389"/>
            <a:ext cx="5318764" cy="3188564"/>
          </a:xfrm>
          <a:prstGeom prst="rect">
            <a:avLst/>
          </a:prstGeom>
        </p:spPr>
      </p:pic>
      <p:pic>
        <p:nvPicPr>
          <p:cNvPr id="45" name="Picture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5671" y="4582389"/>
            <a:ext cx="5297710" cy="3188564"/>
          </a:xfrm>
          <a:prstGeom prst="rect">
            <a:avLst/>
          </a:prstGeom>
        </p:spPr>
      </p:pic>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40536" y="4582389"/>
            <a:ext cx="5318764" cy="31885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ppt_x"/>
                                          </p:val>
                                        </p:tav>
                                        <p:tav tm="100000">
                                          <p:val>
                                            <p:strVal val="#ppt_x"/>
                                          </p:val>
                                        </p:tav>
                                      </p:tavLst>
                                    </p:anim>
                                    <p:anim calcmode="lin" valueType="num">
                                      <p:cBhvr additive="base">
                                        <p:cTn id="1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8945783" y="5999057"/>
            <a:ext cx="273778" cy="903496"/>
            <a:chOff x="-76198" y="-1945726"/>
            <a:chExt cx="812800" cy="2682326"/>
          </a:xfrm>
        </p:grpSpPr>
        <p:sp>
          <p:nvSpPr>
            <p:cNvPr id="7" name="Freeform 7"/>
            <p:cNvSpPr/>
            <p:nvPr/>
          </p:nvSpPr>
          <p:spPr>
            <a:xfrm>
              <a:off x="-76198" y="-194572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dirty="0"/>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8963954" y="3159910"/>
            <a:ext cx="8086446" cy="2334742"/>
          </a:xfrm>
          <a:prstGeom prst="rect">
            <a:avLst/>
          </a:prstGeom>
        </p:spPr>
        <p:txBody>
          <a:bodyPr lIns="0" tIns="0" rIns="0" bIns="0" rtlCol="0" anchor="t">
            <a:spAutoFit/>
          </a:bodyPr>
          <a:lstStyle/>
          <a:p>
            <a:pPr>
              <a:lnSpc>
                <a:spcPts val="9175"/>
              </a:lnSpc>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Silicon Wafer with Dies Distribution.</a:t>
            </a:r>
            <a:endPar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9448800" y="5999057"/>
            <a:ext cx="8359245" cy="2136739"/>
          </a:xfrm>
          <a:prstGeom prst="rect">
            <a:avLst/>
          </a:prstGeom>
        </p:spPr>
        <p:txBody>
          <a:bodyPr wrap="square" lIns="0" tIns="0" rIns="0" bIns="0" rtlCol="0" anchor="t">
            <a:spAutoFit/>
          </a:bodyPr>
          <a:lstStyle/>
          <a:p>
            <a:pPr lvl="0">
              <a:lnSpc>
                <a:spcPts val="2810"/>
              </a:lnSpc>
              <a:spcBef>
                <a:spcPct val="0"/>
              </a:spcBef>
            </a:pP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This image shows a silicon wafer used in semiconductor manufacturing. The wafer contains multiple identical dies arranged in rows and columns. Each die represents an individual integrated circuit (chip). Some dies may be defective, as indicated in the image, and are discarded during testing</a:t>
            </a:r>
            <a:endPar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21" name="Pictur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554" y="2933700"/>
            <a:ext cx="8086446" cy="62483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7" name="Group 7"/>
          <p:cNvGrpSpPr/>
          <p:nvPr/>
        </p:nvGrpSpPr>
        <p:grpSpPr>
          <a:xfrm>
            <a:off x="1570360" y="6178524"/>
            <a:ext cx="273778" cy="27377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10" name="Freeform 10"/>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1570360" y="3302780"/>
            <a:ext cx="9522308" cy="2334742"/>
          </a:xfrm>
          <a:prstGeom prst="rect">
            <a:avLst/>
          </a:prstGeom>
        </p:spPr>
        <p:txBody>
          <a:bodyPr lIns="0" tIns="0" rIns="0" bIns="0" rtlCol="0" anchor="t">
            <a:spAutoFit/>
          </a:bodyPr>
          <a:lstStyle/>
          <a:p>
            <a:pPr lvl="0">
              <a:lnSpc>
                <a:spcPts val="9175"/>
              </a:lnSpc>
              <a:spcBef>
                <a:spcPct val="0"/>
              </a:spcBef>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Photolithography Process Steps.</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994266" y="6107581"/>
            <a:ext cx="7987934" cy="1777666"/>
          </a:xfrm>
          <a:prstGeom prst="rect">
            <a:avLst/>
          </a:prstGeom>
        </p:spPr>
        <p:txBody>
          <a:bodyPr wrap="square" lIns="0" tIns="0" rIns="0" bIns="0" rtlCol="0" anchor="t">
            <a:spAutoFit/>
          </a:bodyPr>
          <a:lstStyle/>
          <a:p>
            <a:pPr lvl="0">
              <a:lnSpc>
                <a:spcPts val="2810"/>
              </a:lnSpc>
              <a:spcBef>
                <a:spcPct val="0"/>
              </a:spcBef>
            </a:pP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Oxidation: forms oxide layer. Photoresist coating: applies sensitive layer . Mask &amp; exposure: transfers pattern . Development: reveals pattern .Etching: removes unwanted parts . Cleaning: spin, rinse, dry . Photoresist removal: clears resist layer.</a:t>
            </a:r>
            <a:endPar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72800" y="2433504"/>
            <a:ext cx="7162800" cy="64437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9435394" y="6635959"/>
            <a:ext cx="273778" cy="27377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7924800" y="2605787"/>
            <a:ext cx="10363200" cy="3514552"/>
          </a:xfrm>
          <a:prstGeom prst="rect">
            <a:avLst/>
          </a:prstGeom>
        </p:spPr>
        <p:txBody>
          <a:bodyPr wrap="square" lIns="0" tIns="0" rIns="0" bIns="0" rtlCol="0" anchor="t">
            <a:spAutoFit/>
          </a:bodyPr>
          <a:lstStyle/>
          <a:p>
            <a:pPr>
              <a:lnSpc>
                <a:spcPts val="9175"/>
              </a:lnSpc>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CMOS Inverter Layout, Cross-Section, and Circuit Schematic.</a:t>
            </a:r>
            <a:endPar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9" name="TextBox 19"/>
          <p:cNvSpPr txBox="1"/>
          <p:nvPr/>
        </p:nvSpPr>
        <p:spPr>
          <a:xfrm>
            <a:off x="9859300" y="6565016"/>
            <a:ext cx="8276300" cy="2495811"/>
          </a:xfrm>
          <a:prstGeom prst="rect">
            <a:avLst/>
          </a:prstGeom>
        </p:spPr>
        <p:txBody>
          <a:bodyPr wrap="square" lIns="0" tIns="0" rIns="0" bIns="0" rtlCol="0" anchor="t">
            <a:spAutoFit/>
          </a:bodyPr>
          <a:lstStyle/>
          <a:p>
            <a:pPr lvl="0">
              <a:lnSpc>
                <a:spcPts val="2810"/>
              </a:lnSpc>
              <a:spcBef>
                <a:spcPct val="0"/>
              </a:spcBef>
            </a:pP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The figure shows the CMOS inverter design, including the physical layout of layers on the silicon chip, the internal transistor structure in the cross-sectional view, and the circuit schematic showing how the </a:t>
            </a:r>
            <a:r>
              <a:rPr lang="en-US" sz="2005" spc="156" dirty="0" err="1">
                <a:solidFill>
                  <a:srgbClr val="FFFFFF"/>
                </a:solidFill>
                <a:latin typeface="Poppins" panose="00000500000000000000"/>
                <a:ea typeface="Poppins" panose="00000500000000000000"/>
                <a:cs typeface="Poppins" panose="00000500000000000000"/>
                <a:sym typeface="Poppins" panose="00000500000000000000"/>
              </a:rPr>
              <a:t>nmOS</a:t>
            </a: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 and </a:t>
            </a:r>
            <a:r>
              <a:rPr lang="en-US" sz="2005" spc="156" dirty="0" err="1">
                <a:solidFill>
                  <a:srgbClr val="FFFFFF"/>
                </a:solidFill>
                <a:latin typeface="Poppins" panose="00000500000000000000"/>
                <a:ea typeface="Poppins" panose="00000500000000000000"/>
                <a:cs typeface="Poppins" panose="00000500000000000000"/>
                <a:sym typeface="Poppins" panose="00000500000000000000"/>
              </a:rPr>
              <a:t>pmOS</a:t>
            </a:r>
            <a:r>
              <a:rPr lang="en-US" sz="2005" spc="156" dirty="0">
                <a:solidFill>
                  <a:srgbClr val="FFFFFF"/>
                </a:solidFill>
                <a:latin typeface="Poppins" panose="00000500000000000000"/>
                <a:ea typeface="Poppins" panose="00000500000000000000"/>
                <a:cs typeface="Poppins" panose="00000500000000000000"/>
                <a:sym typeface="Poppins" panose="00000500000000000000"/>
              </a:rPr>
              <a:t> transistors are connected between the power supply and ground to produce an inverted output signal.</a:t>
            </a:r>
            <a:endParaRPr lang="en-US" sz="2005" u="none" strike="noStrike" spc="156" dirty="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25" name="Pictur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875" y="2552700"/>
            <a:ext cx="7391400" cy="61116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dirty="0"/>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057514" y="4668610"/>
            <a:ext cx="6776771" cy="2550097"/>
            <a:chOff x="0" y="0"/>
            <a:chExt cx="1983217" cy="746284"/>
          </a:xfrm>
        </p:grpSpPr>
        <p:sp>
          <p:nvSpPr>
            <p:cNvPr id="8" name="Freeform 8"/>
            <p:cNvSpPr/>
            <p:nvPr/>
          </p:nvSpPr>
          <p:spPr>
            <a:xfrm>
              <a:off x="0" y="0"/>
              <a:ext cx="1983217" cy="746284"/>
            </a:xfrm>
            <a:custGeom>
              <a:avLst/>
              <a:gdLst/>
              <a:ahLst/>
              <a:cxnLst/>
              <a:rect l="l" t="t" r="r" b="b"/>
              <a:pathLst>
                <a:path w="1983217" h="746284">
                  <a:moveTo>
                    <a:pt x="26276" y="0"/>
                  </a:moveTo>
                  <a:lnTo>
                    <a:pt x="1956942" y="0"/>
                  </a:lnTo>
                  <a:cubicBezTo>
                    <a:pt x="1971453" y="0"/>
                    <a:pt x="1983217" y="11764"/>
                    <a:pt x="1983217" y="26276"/>
                  </a:cubicBezTo>
                  <a:lnTo>
                    <a:pt x="1983217" y="720008"/>
                  </a:lnTo>
                  <a:cubicBezTo>
                    <a:pt x="1983217" y="734520"/>
                    <a:pt x="1971453" y="746284"/>
                    <a:pt x="1956942" y="746284"/>
                  </a:cubicBezTo>
                  <a:lnTo>
                    <a:pt x="26276" y="746284"/>
                  </a:lnTo>
                  <a:cubicBezTo>
                    <a:pt x="11764" y="746284"/>
                    <a:pt x="0" y="734520"/>
                    <a:pt x="0" y="720008"/>
                  </a:cubicBezTo>
                  <a:lnTo>
                    <a:pt x="0" y="26276"/>
                  </a:lnTo>
                  <a:cubicBezTo>
                    <a:pt x="0" y="11764"/>
                    <a:pt x="11764" y="0"/>
                    <a:pt x="26276" y="0"/>
                  </a:cubicBezTo>
                  <a:close/>
                </a:path>
              </a:pathLst>
            </a:custGeom>
            <a:gradFill rotWithShape="1">
              <a:gsLst>
                <a:gs pos="0">
                  <a:srgbClr val="2C3094">
                    <a:alpha val="100000"/>
                  </a:srgbClr>
                </a:gs>
                <a:gs pos="100000">
                  <a:srgbClr val="6B7FE1">
                    <a:alpha val="100000"/>
                  </a:srgbClr>
                </a:gs>
              </a:gsLst>
              <a:lin ang="0"/>
            </a:gradFill>
            <a:ln cap="rnd">
              <a:noFill/>
              <a:prstDash val="solid"/>
              <a:round/>
            </a:ln>
          </p:spPr>
          <p:txBody>
            <a:bodyPr/>
            <a:lstStyle/>
            <a:p>
              <a:endParaRPr lang="en-US"/>
            </a:p>
          </p:txBody>
        </p:sp>
        <p:sp>
          <p:nvSpPr>
            <p:cNvPr id="9" name="TextBox 9"/>
            <p:cNvSpPr txBox="1"/>
            <p:nvPr/>
          </p:nvSpPr>
          <p:spPr>
            <a:xfrm>
              <a:off x="0" y="-57150"/>
              <a:ext cx="1983217" cy="803434"/>
            </a:xfrm>
            <a:prstGeom prst="rect">
              <a:avLst/>
            </a:prstGeom>
          </p:spPr>
          <p:txBody>
            <a:bodyPr lIns="50800" tIns="50800" rIns="50800" bIns="50800" rtlCol="0" anchor="ctr"/>
            <a:lstStyle/>
            <a:p>
              <a:pPr marL="0" lvl="0" indent="0" algn="ctr">
                <a:lnSpc>
                  <a:spcPts val="2810"/>
                </a:lnSpc>
                <a:spcBef>
                  <a:spcPct val="0"/>
                </a:spcBef>
              </a:pPr>
            </a:p>
          </p:txBody>
        </p:sp>
      </p:grpSp>
      <p:sp>
        <p:nvSpPr>
          <p:cNvPr id="13" name="TextBox 13"/>
          <p:cNvSpPr txBox="1"/>
          <p:nvPr/>
        </p:nvSpPr>
        <p:spPr>
          <a:xfrm>
            <a:off x="2514446" y="2265009"/>
            <a:ext cx="14325486" cy="2334742"/>
          </a:xfrm>
          <a:prstGeom prst="rect">
            <a:avLst/>
          </a:prstGeom>
        </p:spPr>
        <p:txBody>
          <a:bodyPr wrap="square" lIns="0" tIns="0" rIns="0" bIns="0" rtlCol="0" anchor="t">
            <a:spAutoFit/>
          </a:bodyPr>
          <a:lstStyle/>
          <a:p>
            <a:pPr lvl="0" algn="ctr">
              <a:lnSpc>
                <a:spcPts val="9175"/>
              </a:lnSpc>
              <a:spcBef>
                <a:spcPct val="0"/>
              </a:spcBef>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MOSFET Schematic and Physical Layout</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grpSp>
        <p:nvGrpSpPr>
          <p:cNvPr id="19" name="Group 19"/>
          <p:cNvGrpSpPr/>
          <p:nvPr/>
        </p:nvGrpSpPr>
        <p:grpSpPr>
          <a:xfrm>
            <a:off x="9453715" y="4668610"/>
            <a:ext cx="6776771" cy="2550097"/>
            <a:chOff x="0" y="0"/>
            <a:chExt cx="1983217" cy="746284"/>
          </a:xfrm>
        </p:grpSpPr>
        <p:sp>
          <p:nvSpPr>
            <p:cNvPr id="20" name="Freeform 20"/>
            <p:cNvSpPr/>
            <p:nvPr/>
          </p:nvSpPr>
          <p:spPr>
            <a:xfrm>
              <a:off x="0" y="0"/>
              <a:ext cx="1983217" cy="746284"/>
            </a:xfrm>
            <a:custGeom>
              <a:avLst/>
              <a:gdLst/>
              <a:ahLst/>
              <a:cxnLst/>
              <a:rect l="l" t="t" r="r" b="b"/>
              <a:pathLst>
                <a:path w="1983217" h="746284">
                  <a:moveTo>
                    <a:pt x="26276" y="0"/>
                  </a:moveTo>
                  <a:lnTo>
                    <a:pt x="1956942" y="0"/>
                  </a:lnTo>
                  <a:cubicBezTo>
                    <a:pt x="1971453" y="0"/>
                    <a:pt x="1983217" y="11764"/>
                    <a:pt x="1983217" y="26276"/>
                  </a:cubicBezTo>
                  <a:lnTo>
                    <a:pt x="1983217" y="720008"/>
                  </a:lnTo>
                  <a:cubicBezTo>
                    <a:pt x="1983217" y="734520"/>
                    <a:pt x="1971453" y="746284"/>
                    <a:pt x="1956942" y="746284"/>
                  </a:cubicBezTo>
                  <a:lnTo>
                    <a:pt x="26276" y="746284"/>
                  </a:lnTo>
                  <a:cubicBezTo>
                    <a:pt x="11764" y="746284"/>
                    <a:pt x="0" y="734520"/>
                    <a:pt x="0" y="720008"/>
                  </a:cubicBezTo>
                  <a:lnTo>
                    <a:pt x="0" y="26276"/>
                  </a:lnTo>
                  <a:cubicBezTo>
                    <a:pt x="0" y="11764"/>
                    <a:pt x="11764" y="0"/>
                    <a:pt x="26276" y="0"/>
                  </a:cubicBezTo>
                  <a:close/>
                </a:path>
              </a:pathLst>
            </a:custGeom>
            <a:gradFill rotWithShape="1">
              <a:gsLst>
                <a:gs pos="0">
                  <a:srgbClr val="2C3094">
                    <a:alpha val="100000"/>
                  </a:srgbClr>
                </a:gs>
                <a:gs pos="100000">
                  <a:srgbClr val="6B7FE1">
                    <a:alpha val="100000"/>
                  </a:srgbClr>
                </a:gs>
              </a:gsLst>
              <a:lin ang="0"/>
            </a:gradFill>
            <a:ln cap="rnd">
              <a:noFill/>
              <a:prstDash val="solid"/>
              <a:round/>
            </a:ln>
          </p:spPr>
          <p:txBody>
            <a:bodyPr/>
            <a:lstStyle/>
            <a:p>
              <a:endParaRPr lang="en-US"/>
            </a:p>
          </p:txBody>
        </p:sp>
        <p:sp>
          <p:nvSpPr>
            <p:cNvPr id="21" name="TextBox 21"/>
            <p:cNvSpPr txBox="1"/>
            <p:nvPr/>
          </p:nvSpPr>
          <p:spPr>
            <a:xfrm>
              <a:off x="0" y="-57150"/>
              <a:ext cx="1983217" cy="803434"/>
            </a:xfrm>
            <a:prstGeom prst="rect">
              <a:avLst/>
            </a:prstGeom>
          </p:spPr>
          <p:txBody>
            <a:bodyPr lIns="50800" tIns="50800" rIns="50800" bIns="50800" rtlCol="0" anchor="ctr"/>
            <a:lstStyle/>
            <a:p>
              <a:pPr marL="0" lvl="0" indent="0" algn="ctr">
                <a:lnSpc>
                  <a:spcPts val="2810"/>
                </a:lnSpc>
                <a:spcBef>
                  <a:spcPct val="0"/>
                </a:spcBef>
              </a:pPr>
            </a:p>
          </p:txBody>
        </p:sp>
      </p:grpSp>
      <p:sp>
        <p:nvSpPr>
          <p:cNvPr id="27" name="Freeform 27"/>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8" name="TextBox 28"/>
          <p:cNvSpPr txBox="1"/>
          <p:nvPr/>
        </p:nvSpPr>
        <p:spPr>
          <a:xfrm>
            <a:off x="2971800" y="7810500"/>
            <a:ext cx="11887200" cy="1270861"/>
          </a:xfrm>
          <a:prstGeom prst="rect">
            <a:avLst/>
          </a:prstGeom>
        </p:spPr>
        <p:txBody>
          <a:bodyPr wrap="square" lIns="0" tIns="0" rIns="0" bIns="0" rtlCol="0" anchor="t">
            <a:spAutoFit/>
          </a:bodyPr>
          <a:lstStyle/>
          <a:p>
            <a:pPr lvl="0" algn="ctr">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The image shows two parts of a MOSFET: an electrical schematic with source, drain, gate, resistances, and gate-source voltage, and a physical layout view showing the gate structure, drain region, and key dimensions of the device.</a:t>
            </a:r>
            <a:endParaRPr lang="en-US" sz="2000" u="none" strike="noStrike"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7515" y="4668610"/>
            <a:ext cx="6776770" cy="2550097"/>
          </a:xfrm>
          <a:prstGeom prst="rect">
            <a:avLst/>
          </a:prstGeom>
        </p:spPr>
      </p:pic>
      <p:pic>
        <p:nvPicPr>
          <p:cNvPr id="32" name="Picture 3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3715" y="4668610"/>
            <a:ext cx="6776770" cy="25500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TextBox 16"/>
          <p:cNvSpPr txBox="1"/>
          <p:nvPr/>
        </p:nvSpPr>
        <p:spPr>
          <a:xfrm>
            <a:off x="1447800" y="2505391"/>
            <a:ext cx="9034946" cy="2334742"/>
          </a:xfrm>
          <a:prstGeom prst="rect">
            <a:avLst/>
          </a:prstGeom>
        </p:spPr>
        <p:txBody>
          <a:bodyPr lIns="0" tIns="0" rIns="0" bIns="0" rtlCol="0" anchor="t">
            <a:spAutoFit/>
          </a:bodyPr>
          <a:lstStyle/>
          <a:p>
            <a:pPr lvl="0">
              <a:lnSpc>
                <a:spcPts val="9175"/>
              </a:lnSpc>
              <a:spcBef>
                <a:spcPct val="0"/>
              </a:spcBef>
            </a:pPr>
            <a:r>
              <a:rPr lang="en-US" sz="7520" b="1" spc="-383" dirty="0">
                <a:solidFill>
                  <a:srgbClr val="6A84FF"/>
                </a:solidFill>
                <a:latin typeface="Poppins Bold" panose="00000800000000000000"/>
                <a:ea typeface="Poppins Bold" panose="00000800000000000000"/>
                <a:cs typeface="Poppins Bold" panose="00000800000000000000"/>
                <a:sym typeface="Poppins Bold" panose="00000800000000000000"/>
              </a:rPr>
              <a:t>Integrated Circuit (IC) Package Types.</a:t>
            </a:r>
            <a:endParaRPr lang="en-US" sz="7520" b="1" u="none" strike="noStrike" spc="-383"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20" name="TextBox 20"/>
          <p:cNvSpPr txBox="1"/>
          <p:nvPr/>
        </p:nvSpPr>
        <p:spPr>
          <a:xfrm>
            <a:off x="1676987" y="5525283"/>
            <a:ext cx="8568897" cy="1270861"/>
          </a:xfrm>
          <a:prstGeom prst="rect">
            <a:avLst/>
          </a:prstGeom>
        </p:spPr>
        <p:txBody>
          <a:bodyPr wrap="square" lIns="0" tIns="0" rIns="0" bIns="0" rtlCol="0" anchor="t">
            <a:spAutoFit/>
          </a:bodyPr>
          <a:lstStyle/>
          <a:p>
            <a:pPr lvl="0">
              <a:lnSpc>
                <a:spcPts val="3400"/>
              </a:lnSpc>
              <a:spcBef>
                <a:spcPct val="0"/>
              </a:spcBef>
            </a:pPr>
            <a:r>
              <a:rPr lang="en-US" sz="2000" dirty="0">
                <a:solidFill>
                  <a:srgbClr val="FFFFFF">
                    <a:alpha val="71765"/>
                  </a:srgbClr>
                </a:solidFill>
                <a:latin typeface="Poppins" panose="00000500000000000000"/>
                <a:ea typeface="Poppins" panose="00000500000000000000"/>
                <a:cs typeface="Poppins" panose="00000500000000000000"/>
                <a:sym typeface="Poppins" panose="00000500000000000000"/>
              </a:rPr>
              <a:t>These components illustrate the different physical formats in which microprocessors, memory chips, and other semiconductors are housed for use in electronic circuits.</a:t>
            </a:r>
            <a:endParaRPr lang="en-US" sz="2000" u="none" strike="noStrike" dirty="0">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9000" y="2847709"/>
            <a:ext cx="6858000" cy="5419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0140365" y="6036868"/>
            <a:ext cx="273778" cy="27377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3" name="Group 13"/>
          <p:cNvGrpSpPr/>
          <p:nvPr/>
        </p:nvGrpSpPr>
        <p:grpSpPr>
          <a:xfrm>
            <a:off x="1028700" y="2276927"/>
            <a:ext cx="6988070" cy="698807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grpSp>
        <p:nvGrpSpPr>
          <p:cNvPr id="18" name="Group 18"/>
          <p:cNvGrpSpPr/>
          <p:nvPr/>
        </p:nvGrpSpPr>
        <p:grpSpPr>
          <a:xfrm>
            <a:off x="4947204" y="5762506"/>
            <a:ext cx="3872151" cy="387215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23" name="TextBox 23"/>
          <p:cNvSpPr txBox="1"/>
          <p:nvPr/>
        </p:nvSpPr>
        <p:spPr>
          <a:xfrm>
            <a:off x="8507730" y="2413000"/>
            <a:ext cx="9690735" cy="2816860"/>
          </a:xfrm>
          <a:prstGeom prst="rect">
            <a:avLst/>
          </a:prstGeom>
        </p:spPr>
        <p:txBody>
          <a:bodyPr lIns="0" tIns="0" rIns="0" bIns="0" rtlCol="0" anchor="t">
            <a:noAutofit/>
          </a:bodyPr>
          <a:lstStyle/>
          <a:p>
            <a:pPr algn="l">
              <a:lnSpc>
                <a:spcPts val="9175"/>
              </a:lnSpc>
            </a:pPr>
            <a:r>
              <a:rPr lang="en-US" altLang="en-US" sz="7520" b="1" spc="-383">
                <a:solidFill>
                  <a:srgbClr val="6A84FF"/>
                </a:solidFill>
                <a:latin typeface="Poppins Bold" panose="00000800000000000000"/>
                <a:ea typeface="Poppins Bold" panose="00000800000000000000"/>
                <a:cs typeface="Poppins Bold" panose="00000800000000000000"/>
                <a:sym typeface="Poppins Bold" panose="00000800000000000000"/>
              </a:rPr>
              <a:t>An Integrated Circuit (Microchip) with Pins</a:t>
            </a:r>
            <a:endParaRPr lang="en-US" altLang="en-US" sz="7520" b="1"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10564495" y="5965825"/>
            <a:ext cx="6461125" cy="2522220"/>
          </a:xfrm>
          <a:prstGeom prst="rect">
            <a:avLst/>
          </a:prstGeom>
        </p:spPr>
        <p:txBody>
          <a:bodyPr wrap="square" lIns="0" tIns="0" rIns="0" bIns="0" rtlCol="0" anchor="t">
            <a:spAutoFit/>
          </a:bodyPr>
          <a:lstStyle/>
          <a:p>
            <a:pPr marL="0" lvl="0" indent="0" algn="l">
              <a:lnSpc>
                <a:spcPts val="2810"/>
              </a:lnSpc>
              <a:spcBef>
                <a:spcPct val="0"/>
              </a:spcBef>
            </a:pPr>
            <a:r>
              <a:rPr lang="en-US" altLang="en-US" sz="2005" u="none" strike="noStrike" spc="156">
                <a:solidFill>
                  <a:srgbClr val="FFFFFF"/>
                </a:solidFill>
                <a:latin typeface="Poppins" panose="00000500000000000000"/>
                <a:ea typeface="Poppins" panose="00000500000000000000"/>
                <a:cs typeface="Poppins" panose="00000500000000000000"/>
                <a:sym typeface="Poppins" panose="00000500000000000000"/>
              </a:rPr>
              <a:t>The image shows a black-and-white close-up of a microchip with a square body containing dense internal circuitry and fine metal pins on all sides for external connections. It is used for processing information and controlling electronic devices.</a:t>
            </a:r>
            <a:endParaRPr lang="en-US" altLang="en-US" sz="2005" u="none" strike="noStrike"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7" name="TextBox 27"/>
          <p:cNvSpPr txBox="1"/>
          <p:nvPr/>
        </p:nvSpPr>
        <p:spPr>
          <a:xfrm>
            <a:off x="10372048" y="1122903"/>
            <a:ext cx="1441239" cy="358775"/>
          </a:xfrm>
          <a:prstGeom prst="rect">
            <a:avLst/>
          </a:prstGeom>
        </p:spPr>
        <p:txBody>
          <a:bodyPr lIns="0" tIns="0" rIns="0" bIns="0" rtlCol="0" anchor="t">
            <a:spAutoFit/>
          </a:bodyPr>
          <a:lstStyle/>
          <a:p>
            <a:pPr algn="ctr">
              <a:lnSpc>
                <a:spcPts val="2800"/>
              </a:lnSpc>
              <a:spcBef>
                <a:spcPct val="0"/>
              </a:spcBef>
            </a:pP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29" name="Picture 28"/>
          <p:cNvPicPr>
            <a:picLocks noChangeAspect="1"/>
          </p:cNvPicPr>
          <p:nvPr/>
        </p:nvPicPr>
        <p:blipFill>
          <a:blip r:embed="rId5"/>
          <a:stretch>
            <a:fillRect/>
          </a:stretch>
        </p:blipFill>
        <p:spPr>
          <a:xfrm>
            <a:off x="762000" y="2247900"/>
            <a:ext cx="7296785" cy="7337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3" name="TextBox 13"/>
          <p:cNvSpPr txBox="1"/>
          <p:nvPr/>
        </p:nvSpPr>
        <p:spPr>
          <a:xfrm>
            <a:off x="1802765" y="2229485"/>
            <a:ext cx="15156180" cy="1501140"/>
          </a:xfrm>
          <a:prstGeom prst="rect">
            <a:avLst/>
          </a:prstGeom>
        </p:spPr>
        <p:txBody>
          <a:bodyPr lIns="0" tIns="0" rIns="0" bIns="0" rtlCol="0" anchor="t">
            <a:noAutofit/>
          </a:bodyPr>
          <a:lstStyle/>
          <a:p>
            <a:pPr marL="0" lvl="0" indent="0" algn="ctr">
              <a:lnSpc>
                <a:spcPts val="9175"/>
              </a:lnSpc>
              <a:spcBef>
                <a:spcPct val="0"/>
              </a:spcBef>
            </a:pPr>
            <a:r>
              <a:rPr lang="en-US" altLang="en-US" sz="600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Minority Carrier Concentration in a p-n Junction Diode</a:t>
            </a:r>
            <a:endParaRPr lang="en-US" altLang="en-US" sz="600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3195306" y="8165956"/>
            <a:ext cx="11897387" cy="1307465"/>
          </a:xfrm>
          <a:prstGeom prst="rect">
            <a:avLst/>
          </a:prstGeom>
        </p:spPr>
        <p:txBody>
          <a:bodyPr lIns="0" tIns="0" rIns="0" bIns="0" rtlCol="0" anchor="t">
            <a:spAutoFit/>
          </a:bodyPr>
          <a:lstStyle/>
          <a:p>
            <a:pPr marL="0" lvl="0" indent="0" algn="ctr">
              <a:lnSpc>
                <a:spcPts val="3400"/>
              </a:lnSpc>
              <a:spcBef>
                <a:spcPct val="0"/>
              </a:spcBef>
            </a:pPr>
            <a:r>
              <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The diagram shows the distribution of minority carriers in a p-n junction under forward bias, where the excess electrons in the p-region and excess holes in the n-region decrease as they move away from the depletion region, which has very low carrier concentration.</a:t>
            </a:r>
            <a:endPar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15" name="Picture 14"/>
          <p:cNvPicPr>
            <a:picLocks noChangeAspect="1"/>
          </p:cNvPicPr>
          <p:nvPr/>
        </p:nvPicPr>
        <p:blipFill>
          <a:blip r:embed="rId5"/>
          <a:stretch>
            <a:fillRect/>
          </a:stretch>
        </p:blipFill>
        <p:spPr>
          <a:xfrm>
            <a:off x="3124200" y="4686300"/>
            <a:ext cx="11755120" cy="2623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7" name="Group 7"/>
          <p:cNvGrpSpPr/>
          <p:nvPr/>
        </p:nvGrpSpPr>
        <p:grpSpPr>
          <a:xfrm>
            <a:off x="1570360" y="6178524"/>
            <a:ext cx="273778" cy="27377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10" name="Freeform 10"/>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TextBox 15"/>
          <p:cNvSpPr txBox="1"/>
          <p:nvPr/>
        </p:nvSpPr>
        <p:spPr>
          <a:xfrm>
            <a:off x="1570360" y="3302780"/>
            <a:ext cx="7254897" cy="2352675"/>
          </a:xfrm>
          <a:prstGeom prst="rect">
            <a:avLst/>
          </a:prstGeom>
        </p:spPr>
        <p:txBody>
          <a:bodyPr lIns="0" tIns="0" rIns="0" bIns="0" rtlCol="0" anchor="t">
            <a:spAutoFit/>
          </a:bodyPr>
          <a:lstStyle/>
          <a:p>
            <a:pPr marL="0" lvl="0" indent="0" algn="l">
              <a:lnSpc>
                <a:spcPts val="9175"/>
              </a:lnSpc>
              <a:spcBef>
                <a:spcPct val="0"/>
              </a:spcBef>
            </a:pP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P-N Junction Characteristics</a:t>
            </a:r>
            <a:endPar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994535" y="6107430"/>
            <a:ext cx="6642735" cy="3242945"/>
          </a:xfrm>
          <a:prstGeom prst="rect">
            <a:avLst/>
          </a:prstGeom>
        </p:spPr>
        <p:txBody>
          <a:bodyPr wrap="square" lIns="0" tIns="0" rIns="0" bIns="0" rtlCol="0" anchor="t">
            <a:spAutoFit/>
          </a:bodyPr>
          <a:lstStyle/>
          <a:p>
            <a:pPr marL="0" lvl="0" indent="0" algn="l">
              <a:lnSpc>
                <a:spcPts val="2810"/>
              </a:lnSpc>
              <a:spcBef>
                <a:spcPct val="0"/>
              </a:spcBef>
            </a:pPr>
            <a:r>
              <a:rPr lang="en-US" sz="2005" spc="156">
                <a:solidFill>
                  <a:srgbClr val="FFFFFF"/>
                </a:solidFill>
                <a:latin typeface="Poppins" panose="00000500000000000000"/>
                <a:ea typeface="Poppins" panose="00000500000000000000"/>
                <a:cs typeface="Poppins" panose="00000500000000000000"/>
                <a:sym typeface="Poppins" panose="00000500000000000000"/>
              </a:rPr>
              <a:t>V</a:t>
            </a:r>
            <a:r>
              <a:rPr lang="en-US" altLang="en-US" sz="2005" spc="156">
                <a:solidFill>
                  <a:srgbClr val="FFFFFF"/>
                </a:solidFill>
                <a:latin typeface="Poppins" panose="00000500000000000000"/>
                <a:ea typeface="Poppins" panose="00000500000000000000"/>
                <a:cs typeface="Poppins" panose="00000500000000000000"/>
                <a:sym typeface="Poppins" panose="00000500000000000000"/>
              </a:rPr>
              <a:t>The image illustrates the properties of a p-n junction at equilibrium, where diffusion and drift of charge carriers occur across the depletion region, space charges are formed, an electric field is established from the n-side to the p-side, and an electrostatic potential barrier is created that prevents continuous net current flow.</a:t>
            </a:r>
            <a:r>
              <a:rPr lang="en-US" sz="2005" spc="156">
                <a:solidFill>
                  <a:srgbClr val="FFFFFF"/>
                </a:solidFill>
                <a:latin typeface="Poppins" panose="00000500000000000000"/>
                <a:ea typeface="Poppins" panose="00000500000000000000"/>
                <a:cs typeface="Poppins" panose="00000500000000000000"/>
                <a:sym typeface="Poppins" panose="00000500000000000000"/>
              </a:rPr>
              <a:t>ideo </a:t>
            </a:r>
            <a:r>
              <a:rPr lang="en-US" sz="2005" u="none" strike="noStrike" spc="156">
                <a:solidFill>
                  <a:srgbClr val="FFFFFF"/>
                </a:solidFill>
                <a:latin typeface="Poppins" panose="00000500000000000000"/>
                <a:ea typeface="Poppins" panose="00000500000000000000"/>
                <a:cs typeface="Poppins" panose="00000500000000000000"/>
                <a:sym typeface="Poppins" panose="00000500000000000000"/>
              </a:rPr>
              <a:t>editing &amp; streaming.</a:t>
            </a:r>
            <a:endParaRPr lang="en-US" sz="2005" u="none" strike="noStrike"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0" name="TextBox 20"/>
          <p:cNvSpPr txBox="1"/>
          <p:nvPr/>
        </p:nvSpPr>
        <p:spPr>
          <a:xfrm>
            <a:off x="1570360" y="6821487"/>
            <a:ext cx="6353126" cy="435610"/>
          </a:xfrm>
          <a:prstGeom prst="rect">
            <a:avLst/>
          </a:prstGeom>
        </p:spPr>
        <p:txBody>
          <a:bodyPr lIns="0" tIns="0" rIns="0" bIns="0" rtlCol="0" anchor="t">
            <a:spAutoFit/>
          </a:bodyPr>
          <a:lstStyle/>
          <a:p>
            <a:pPr marL="0" lvl="0" indent="0" algn="l">
              <a:lnSpc>
                <a:spcPts val="3400"/>
              </a:lnSpc>
              <a:spcBef>
                <a:spcPct val="0"/>
              </a:spcBef>
            </a:pPr>
            <a:r>
              <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endPar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2" name="Picture 21"/>
          <p:cNvPicPr>
            <a:picLocks noChangeAspect="1"/>
          </p:cNvPicPr>
          <p:nvPr/>
        </p:nvPicPr>
        <p:blipFill>
          <a:blip r:embed="rId5"/>
          <a:stretch>
            <a:fillRect/>
          </a:stretch>
        </p:blipFill>
        <p:spPr>
          <a:xfrm>
            <a:off x="10668000" y="2781300"/>
            <a:ext cx="6991350" cy="6543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0638803" y="6225445"/>
            <a:ext cx="273778" cy="27377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0" name="Group 10"/>
          <p:cNvGrpSpPr/>
          <p:nvPr/>
        </p:nvGrpSpPr>
        <p:grpSpPr>
          <a:xfrm>
            <a:off x="2362355" y="2476912"/>
            <a:ext cx="6498145" cy="649814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2810"/>
                </a:lnSpc>
              </a:pPr>
              <a:r>
                <a:rPr lang="ar-EG" altLang="en-US"/>
                <a:t> </a:t>
              </a:r>
              <a:endParaRPr lang="ar-EG" altLang="en-US"/>
            </a:p>
          </p:txBody>
        </p:sp>
      </p:grpSp>
      <p:grpSp>
        <p:nvGrpSpPr>
          <p:cNvPr id="15" name="Group 15"/>
          <p:cNvGrpSpPr/>
          <p:nvPr/>
        </p:nvGrpSpPr>
        <p:grpSpPr>
          <a:xfrm>
            <a:off x="-913929" y="2558192"/>
            <a:ext cx="6498145" cy="649814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20" name="TextBox 20"/>
          <p:cNvSpPr txBox="1"/>
          <p:nvPr/>
        </p:nvSpPr>
        <p:spPr>
          <a:xfrm>
            <a:off x="9196705" y="3236595"/>
            <a:ext cx="9444990" cy="2486025"/>
          </a:xfrm>
          <a:prstGeom prst="rect">
            <a:avLst/>
          </a:prstGeom>
        </p:spPr>
        <p:txBody>
          <a:bodyPr wrap="square" lIns="0" tIns="0" rIns="0" bIns="0" rtlCol="0" anchor="t">
            <a:noAutofit/>
          </a:bodyPr>
          <a:lstStyle/>
          <a:p>
            <a:pPr algn="l">
              <a:lnSpc>
                <a:spcPts val="9175"/>
              </a:lnSpc>
            </a:pPr>
            <a:r>
              <a:rPr lang="en-US" altLang="en-US" sz="6600" b="1" spc="-383">
                <a:solidFill>
                  <a:srgbClr val="6A84FF"/>
                </a:solidFill>
                <a:latin typeface="Poppins Bold" panose="00000800000000000000"/>
                <a:ea typeface="Poppins Bold" panose="00000800000000000000"/>
                <a:cs typeface="Poppins Bold" panose="00000800000000000000"/>
                <a:sym typeface="Poppins Bold" panose="00000800000000000000"/>
              </a:rPr>
              <a:t>PN Junction and Diode Representations</a:t>
            </a:r>
            <a:endParaRPr lang="en-US" altLang="en-US" sz="6600" b="1"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21" name="TextBox 21"/>
          <p:cNvSpPr txBox="1"/>
          <p:nvPr/>
        </p:nvSpPr>
        <p:spPr>
          <a:xfrm>
            <a:off x="11062709" y="6154503"/>
            <a:ext cx="6196591" cy="2522220"/>
          </a:xfrm>
          <a:prstGeom prst="rect">
            <a:avLst/>
          </a:prstGeom>
        </p:spPr>
        <p:txBody>
          <a:bodyPr lIns="0" tIns="0" rIns="0" bIns="0" rtlCol="0" anchor="t">
            <a:spAutoFit/>
          </a:bodyPr>
          <a:lstStyle/>
          <a:p>
            <a:pPr marL="0" lvl="0" indent="0" algn="l">
              <a:lnSpc>
                <a:spcPts val="2810"/>
              </a:lnSpc>
              <a:spcBef>
                <a:spcPct val="0"/>
              </a:spcBef>
            </a:pPr>
            <a:r>
              <a:rPr lang="en-US" altLang="en-US" sz="2005" u="none" strike="noStrike" spc="156">
                <a:solidFill>
                  <a:srgbClr val="FFFFFF"/>
                </a:solidFill>
                <a:latin typeface="Poppins" panose="00000500000000000000"/>
                <a:ea typeface="Poppins" panose="00000500000000000000"/>
                <a:cs typeface="Poppins" panose="00000500000000000000"/>
                <a:sym typeface="Poppins" panose="00000500000000000000"/>
              </a:rPr>
              <a:t>The image shows three representations of a p-n junction and a diode: a cross-sectional IC structure with material layers and contacts, a simplified one-dimensional layer view, and the standard diode symbol with anode and cathode terminals.</a:t>
            </a:r>
            <a:endParaRPr lang="en-US" altLang="en-US" sz="2005" u="none" strike="noStrike"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10638803" y="6868409"/>
            <a:ext cx="6410746" cy="435610"/>
          </a:xfrm>
          <a:prstGeom prst="rect">
            <a:avLst/>
          </a:prstGeom>
        </p:spPr>
        <p:txBody>
          <a:bodyPr lIns="0" tIns="0" rIns="0" bIns="0" rtlCol="0" anchor="t">
            <a:spAutoFit/>
          </a:bodyPr>
          <a:lstStyle/>
          <a:p>
            <a:pPr marL="0" lvl="0" indent="0" algn="l">
              <a:lnSpc>
                <a:spcPts val="3400"/>
              </a:lnSpc>
              <a:spcBef>
                <a:spcPct val="0"/>
              </a:spcBef>
            </a:pPr>
            <a:r>
              <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endPar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6" name="Picture 25" descr="WhatsApp Image 2026-04-10 at 4.59.51 PM"/>
          <p:cNvPicPr>
            <a:picLocks noChangeAspect="1"/>
          </p:cNvPicPr>
          <p:nvPr/>
        </p:nvPicPr>
        <p:blipFill>
          <a:blip r:embed="rId5"/>
          <a:stretch>
            <a:fillRect/>
          </a:stretch>
        </p:blipFill>
        <p:spPr>
          <a:xfrm>
            <a:off x="610235" y="2216150"/>
            <a:ext cx="7016115" cy="6801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7" name="TextBox 17"/>
          <p:cNvSpPr txBox="1"/>
          <p:nvPr/>
        </p:nvSpPr>
        <p:spPr>
          <a:xfrm>
            <a:off x="1802763" y="2229436"/>
            <a:ext cx="14682474" cy="1176020"/>
          </a:xfrm>
          <a:prstGeom prst="rect">
            <a:avLst/>
          </a:prstGeom>
        </p:spPr>
        <p:txBody>
          <a:bodyPr lIns="0" tIns="0" rIns="0" bIns="0" rtlCol="0" anchor="t">
            <a:spAutoFit/>
          </a:bodyPr>
          <a:lstStyle/>
          <a:p>
            <a:pPr marL="0" lvl="0" indent="0" algn="ctr">
              <a:lnSpc>
                <a:spcPts val="9175"/>
              </a:lnSpc>
              <a:spcBef>
                <a:spcPct val="0"/>
              </a:spcBef>
            </a:pP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Scatter Plots of Signal Delay</a:t>
            </a:r>
            <a:endPar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8" name="TextBox 18"/>
          <p:cNvSpPr txBox="1"/>
          <p:nvPr/>
        </p:nvSpPr>
        <p:spPr>
          <a:xfrm>
            <a:off x="3195320" y="7915910"/>
            <a:ext cx="11897360" cy="1993900"/>
          </a:xfrm>
          <a:prstGeom prst="rect">
            <a:avLst/>
          </a:prstGeom>
        </p:spPr>
        <p:txBody>
          <a:bodyPr lIns="0" tIns="0" rIns="0" bIns="0" rtlCol="0" anchor="t">
            <a:noAutofit/>
          </a:bodyPr>
          <a:lstStyle/>
          <a:p>
            <a:pPr marL="0" lvl="0" indent="0" algn="ctr">
              <a:lnSpc>
                <a:spcPts val="3400"/>
              </a:lnSpc>
              <a:spcBef>
                <a:spcPct val="0"/>
              </a:spcBef>
            </a:pPr>
            <a:r>
              <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The plots show the relationship between an unspecified variable and signal delay, where the left graph shows a direct correlation (signal delay increases as the variable increases) and the right graph shows an inverse correlation (signal delay decreases as the variable increases).</a:t>
            </a:r>
            <a:endPar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0" name="Picture 19" descr="WhatsApp Image 2026-04-10 at 4.51.52 PM"/>
          <p:cNvPicPr>
            <a:picLocks noChangeAspect="1"/>
          </p:cNvPicPr>
          <p:nvPr/>
        </p:nvPicPr>
        <p:blipFill>
          <a:blip r:embed="rId5"/>
          <a:stretch>
            <a:fillRect/>
          </a:stretch>
        </p:blipFill>
        <p:spPr>
          <a:xfrm>
            <a:off x="3061970" y="3848100"/>
            <a:ext cx="12030710" cy="3496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7" name="Group 7"/>
          <p:cNvGrpSpPr/>
          <p:nvPr/>
        </p:nvGrpSpPr>
        <p:grpSpPr>
          <a:xfrm>
            <a:off x="1270005" y="7425753"/>
            <a:ext cx="273778" cy="27377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10" name="Freeform 10"/>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595630" y="3006725"/>
            <a:ext cx="8677910" cy="3529330"/>
          </a:xfrm>
          <a:prstGeom prst="rect">
            <a:avLst/>
          </a:prstGeom>
        </p:spPr>
        <p:txBody>
          <a:bodyPr wrap="square" lIns="0" tIns="0" rIns="0" bIns="0" rtlCol="0" anchor="t">
            <a:spAutoFit/>
          </a:bodyPr>
          <a:lstStyle/>
          <a:p>
            <a:pPr marL="0" lvl="0" indent="0" algn="l">
              <a:lnSpc>
                <a:spcPts val="9175"/>
              </a:lnSpc>
              <a:spcBef>
                <a:spcPct val="0"/>
              </a:spcBef>
            </a:pP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Fin Field-Effect Transistor (FinFET) Diagram</a:t>
            </a:r>
            <a:endPar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2" name="TextBox 12"/>
          <p:cNvSpPr txBox="1"/>
          <p:nvPr/>
        </p:nvSpPr>
        <p:spPr>
          <a:xfrm>
            <a:off x="1904731" y="7265911"/>
            <a:ext cx="5408338" cy="360045"/>
          </a:xfrm>
          <a:prstGeom prst="rect">
            <a:avLst/>
          </a:prstGeom>
        </p:spPr>
        <p:txBody>
          <a:bodyPr lIns="0" tIns="0" rIns="0" bIns="0" rtlCol="0" anchor="t">
            <a:spAutoFit/>
          </a:bodyPr>
          <a:lstStyle/>
          <a:p>
            <a:pPr marL="0" lvl="0" indent="0" algn="l">
              <a:lnSpc>
                <a:spcPts val="2810"/>
              </a:lnSpc>
              <a:spcBef>
                <a:spcPct val="0"/>
              </a:spcBef>
            </a:pPr>
            <a:r>
              <a:rPr lang="ar-EG" altLang="en-US" sz="2005" spc="156">
                <a:solidFill>
                  <a:srgbClr val="FFFFFF"/>
                </a:solidFill>
                <a:latin typeface="Poppins" panose="00000500000000000000"/>
                <a:ea typeface="Poppins" panose="00000500000000000000"/>
                <a:cs typeface="Poppins" panose="00000500000000000000"/>
                <a:sym typeface="Poppins" panose="00000500000000000000"/>
              </a:rPr>
              <a:t> </a:t>
            </a:r>
            <a:endParaRPr lang="ar-EG" altLang="en-US" sz="2005" u="none" strike="noStrike"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633860" y="7265530"/>
            <a:ext cx="7259472" cy="1743710"/>
          </a:xfrm>
          <a:prstGeom prst="rect">
            <a:avLst/>
          </a:prstGeom>
        </p:spPr>
        <p:txBody>
          <a:bodyPr lIns="0" tIns="0" rIns="0" bIns="0" rtlCol="0" anchor="t">
            <a:spAutoFit/>
          </a:bodyPr>
          <a:lstStyle/>
          <a:p>
            <a:pPr marL="0" lvl="0" indent="0" algn="l">
              <a:lnSpc>
                <a:spcPts val="3400"/>
              </a:lnSpc>
              <a:spcBef>
                <a:spcPct val="0"/>
              </a:spcBef>
            </a:pPr>
            <a:r>
              <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r>
              <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The diagram shows a FinFET structure with source, gate, and drain terminals, where the gate wraps around a silicon fin for better current control and reduced leakage, built on a buried oxide layer using Si and SiO₂.</a:t>
            </a:r>
            <a:endPar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11204257" y="6628910"/>
            <a:ext cx="5714815" cy="358775"/>
          </a:xfrm>
          <a:prstGeom prst="rect">
            <a:avLst/>
          </a:prstGeom>
        </p:spPr>
        <p:txBody>
          <a:bodyPr lIns="0" tIns="0" rIns="0" bIns="0" rtlCol="0" anchor="t">
            <a:spAutoFit/>
          </a:bodyPr>
          <a:lstStyle/>
          <a:p>
            <a:pPr algn="l">
              <a:lnSpc>
                <a:spcPts val="2800"/>
              </a:lnSpc>
              <a:spcBef>
                <a:spcPct val="0"/>
              </a:spcBef>
            </a:pPr>
            <a:r>
              <a:rPr lang="ar-EG" altLang="en-US" sz="2000" spc="156">
                <a:solidFill>
                  <a:srgbClr val="FFFFFF"/>
                </a:solidFill>
                <a:latin typeface="Poppins" panose="00000500000000000000"/>
                <a:ea typeface="Poppins" panose="00000500000000000000"/>
                <a:cs typeface="Poppins" panose="00000500000000000000"/>
                <a:sym typeface="Poppins" panose="00000500000000000000"/>
              </a:rPr>
              <a:t> </a:t>
            </a:r>
            <a:endParaRPr lang="ar-EG" altLang="en-US" sz="2000"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6" name="TextBox 26"/>
          <p:cNvSpPr txBox="1"/>
          <p:nvPr/>
        </p:nvSpPr>
        <p:spPr>
          <a:xfrm>
            <a:off x="11277416" y="7432101"/>
            <a:ext cx="6096317" cy="391795"/>
          </a:xfrm>
          <a:prstGeom prst="rect">
            <a:avLst/>
          </a:prstGeom>
        </p:spPr>
        <p:txBody>
          <a:bodyPr lIns="0" tIns="0" rIns="0" bIns="0" rtlCol="0" anchor="t">
            <a:spAutoFit/>
          </a:bodyPr>
          <a:lstStyle/>
          <a:p>
            <a:pPr marL="0" lvl="0" indent="0" algn="l">
              <a:lnSpc>
                <a:spcPts val="3060"/>
              </a:lnSpc>
              <a:spcBef>
                <a:spcPct val="0"/>
              </a:spcBef>
            </a:pPr>
            <a:r>
              <a:rPr lang="ar-EG"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endParaRPr lang="ar-EG"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28" name="Picture 27" descr="WhatsApp Image 2026-04-10 at 4.51.53 PM"/>
          <p:cNvPicPr>
            <a:picLocks noChangeAspect="1"/>
          </p:cNvPicPr>
          <p:nvPr/>
        </p:nvPicPr>
        <p:blipFill>
          <a:blip r:embed="rId5"/>
          <a:stretch>
            <a:fillRect/>
          </a:stretch>
        </p:blipFill>
        <p:spPr>
          <a:xfrm>
            <a:off x="10363200" y="2781300"/>
            <a:ext cx="6797675" cy="6315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2" name="Group 12"/>
          <p:cNvGrpSpPr/>
          <p:nvPr/>
        </p:nvGrpSpPr>
        <p:grpSpPr>
          <a:xfrm>
            <a:off x="4525161" y="8109465"/>
            <a:ext cx="246391" cy="24639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15" name="TextBox 15"/>
          <p:cNvSpPr txBox="1"/>
          <p:nvPr/>
        </p:nvSpPr>
        <p:spPr>
          <a:xfrm>
            <a:off x="5047615" y="8039100"/>
            <a:ext cx="8024495" cy="1961515"/>
          </a:xfrm>
          <a:prstGeom prst="rect">
            <a:avLst/>
          </a:prstGeom>
        </p:spPr>
        <p:txBody>
          <a:bodyPr wrap="square" lIns="0" tIns="0" rIns="0" bIns="0" rtlCol="0" anchor="t">
            <a:spAutoFit/>
          </a:bodyPr>
          <a:lstStyle/>
          <a:p>
            <a:pPr marL="0" lvl="0" indent="0" algn="l">
              <a:lnSpc>
                <a:spcPts val="3060"/>
              </a:lnSpc>
              <a:spcBef>
                <a:spcPct val="0"/>
              </a:spcBef>
            </a:pPr>
            <a:r>
              <a:rPr lang="en-US"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The image shows the latch-up effect in CMOS structures through two diagrams: a cross-sectional view illustrating parasitic pnp and npn transistors with resistances  Rnwell and Rpsubs, and an equivalent circuit showing their interconnection, forming a positive feedback loop that causes latch-up.</a:t>
            </a:r>
            <a:endParaRPr lang="ar-EG"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sp>
        <p:nvSpPr>
          <p:cNvPr id="24" name="Freeform 24"/>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8" name="TextBox 28"/>
          <p:cNvSpPr txBox="1"/>
          <p:nvPr/>
        </p:nvSpPr>
        <p:spPr>
          <a:xfrm>
            <a:off x="534035" y="2052955"/>
            <a:ext cx="17487900" cy="1477010"/>
          </a:xfrm>
          <a:prstGeom prst="rect">
            <a:avLst/>
          </a:prstGeom>
        </p:spPr>
        <p:txBody>
          <a:bodyPr wrap="square" lIns="0" tIns="0" rIns="0" bIns="0" rtlCol="0" anchor="t">
            <a:noAutofit/>
          </a:bodyPr>
          <a:lstStyle/>
          <a:p>
            <a:pPr marL="0" lvl="0" indent="0" algn="ctr">
              <a:lnSpc>
                <a:spcPts val="9175"/>
              </a:lnSpc>
              <a:spcBef>
                <a:spcPct val="0"/>
              </a:spcBef>
            </a:pP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Latch-up </a:t>
            </a:r>
            <a:r>
              <a:rPr lang="en-US" altLang="en-US" sz="600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Phenomenon </a:t>
            </a: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in Semiconductor Devices</a:t>
            </a:r>
            <a:endPar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29" name="TextBox 29"/>
          <p:cNvSpPr txBox="1"/>
          <p:nvPr/>
        </p:nvSpPr>
        <p:spPr>
          <a:xfrm>
            <a:off x="2774332" y="6948972"/>
            <a:ext cx="5512571" cy="358775"/>
          </a:xfrm>
          <a:prstGeom prst="rect">
            <a:avLst/>
          </a:prstGeom>
        </p:spPr>
        <p:txBody>
          <a:bodyPr lIns="0" tIns="0" rIns="0" bIns="0" rtlCol="0" anchor="t">
            <a:spAutoFit/>
          </a:bodyPr>
          <a:lstStyle/>
          <a:p>
            <a:pPr marL="0" lvl="0" indent="0" algn="l">
              <a:lnSpc>
                <a:spcPts val="2800"/>
              </a:lnSpc>
              <a:spcBef>
                <a:spcPct val="0"/>
              </a:spcBef>
            </a:pPr>
            <a:r>
              <a:rPr lang="ar-EG" altLang="en-US" sz="2000" spc="156">
                <a:solidFill>
                  <a:srgbClr val="FFFFFF"/>
                </a:solidFill>
                <a:latin typeface="Poppins" panose="00000500000000000000"/>
                <a:ea typeface="Poppins" panose="00000500000000000000"/>
                <a:cs typeface="Poppins" panose="00000500000000000000"/>
                <a:sym typeface="Poppins" panose="00000500000000000000"/>
              </a:rPr>
              <a:t> </a:t>
            </a:r>
            <a:endParaRPr lang="ar-EG" altLang="en-US" sz="2000"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0" name="TextBox 30"/>
          <p:cNvSpPr txBox="1"/>
          <p:nvPr/>
        </p:nvSpPr>
        <p:spPr>
          <a:xfrm>
            <a:off x="10175443" y="6948972"/>
            <a:ext cx="4067847" cy="358775"/>
          </a:xfrm>
          <a:prstGeom prst="rect">
            <a:avLst/>
          </a:prstGeom>
        </p:spPr>
        <p:txBody>
          <a:bodyPr lIns="0" tIns="0" rIns="0" bIns="0" rtlCol="0" anchor="t">
            <a:spAutoFit/>
          </a:bodyPr>
          <a:lstStyle/>
          <a:p>
            <a:pPr marL="0" lvl="0" indent="0" algn="l">
              <a:lnSpc>
                <a:spcPts val="2800"/>
              </a:lnSpc>
              <a:spcBef>
                <a:spcPct val="0"/>
              </a:spcBef>
            </a:pPr>
            <a:r>
              <a:rPr lang="ar-EG" altLang="en-US" sz="2000" spc="156">
                <a:solidFill>
                  <a:srgbClr val="FFFFFF"/>
                </a:solidFill>
                <a:latin typeface="Poppins" panose="00000500000000000000"/>
                <a:ea typeface="Poppins" panose="00000500000000000000"/>
                <a:cs typeface="Poppins" panose="00000500000000000000"/>
                <a:sym typeface="Poppins" panose="00000500000000000000"/>
              </a:rPr>
              <a:t> </a:t>
            </a:r>
            <a:r>
              <a:rPr lang="ar-EG" altLang="en-US" sz="2000" spc="156">
                <a:solidFill>
                  <a:srgbClr val="FFFFFF"/>
                </a:solidFill>
                <a:latin typeface="Poppins" panose="00000500000000000000"/>
                <a:ea typeface="Poppins" panose="00000500000000000000"/>
                <a:cs typeface="Poppins" panose="00000500000000000000"/>
                <a:sym typeface="Poppins" panose="00000500000000000000"/>
              </a:rPr>
              <a:t> </a:t>
            </a:r>
            <a:endParaRPr lang="ar-EG" altLang="en-US" sz="2000"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1" name="TextBox 31"/>
          <p:cNvSpPr txBox="1"/>
          <p:nvPr/>
        </p:nvSpPr>
        <p:spPr>
          <a:xfrm>
            <a:off x="9793942" y="7579381"/>
            <a:ext cx="6096317" cy="391795"/>
          </a:xfrm>
          <a:prstGeom prst="rect">
            <a:avLst/>
          </a:prstGeom>
        </p:spPr>
        <p:txBody>
          <a:bodyPr lIns="0" tIns="0" rIns="0" bIns="0" rtlCol="0" anchor="t">
            <a:spAutoFit/>
          </a:bodyPr>
          <a:lstStyle/>
          <a:p>
            <a:pPr marL="0" lvl="0" indent="0" algn="l">
              <a:lnSpc>
                <a:spcPts val="3060"/>
              </a:lnSpc>
              <a:spcBef>
                <a:spcPct val="0"/>
              </a:spcBef>
            </a:pPr>
            <a:r>
              <a:rPr lang="ar-EG"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endParaRPr lang="ar-EG" altLang="en-US" sz="18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32" name="Picture 31" descr="WhatsApp Image 2026-04-10 at 4.51.53 PM (1)"/>
          <p:cNvPicPr>
            <a:picLocks noChangeAspect="1"/>
          </p:cNvPicPr>
          <p:nvPr/>
        </p:nvPicPr>
        <p:blipFill>
          <a:blip r:embed="rId5"/>
          <a:stretch>
            <a:fillRect/>
          </a:stretch>
        </p:blipFill>
        <p:spPr>
          <a:xfrm>
            <a:off x="1771650" y="4686300"/>
            <a:ext cx="13899515" cy="2727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Freeform 7"/>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p:cNvSpPr txBox="1"/>
          <p:nvPr/>
        </p:nvSpPr>
        <p:spPr>
          <a:xfrm>
            <a:off x="519430" y="2830195"/>
            <a:ext cx="7721600" cy="3529330"/>
          </a:xfrm>
          <a:prstGeom prst="rect">
            <a:avLst/>
          </a:prstGeom>
        </p:spPr>
        <p:txBody>
          <a:bodyPr wrap="square" lIns="0" tIns="0" rIns="0" bIns="0" rtlCol="0" anchor="t">
            <a:spAutoFit/>
          </a:bodyPr>
          <a:lstStyle/>
          <a:p>
            <a:pPr marL="0" lvl="0" indent="0" algn="l">
              <a:lnSpc>
                <a:spcPts val="9175"/>
              </a:lnSpc>
              <a:spcBef>
                <a:spcPct val="0"/>
              </a:spcBef>
            </a:pPr>
            <a:r>
              <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rPr>
              <a:t>The Smallest Transistor in the World</a:t>
            </a:r>
            <a:endParaRPr lang="en-US" altLang="en-US" sz="7520" b="1" u="none" strike="noStrike"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1" name="TextBox 11"/>
          <p:cNvSpPr txBox="1"/>
          <p:nvPr/>
        </p:nvSpPr>
        <p:spPr>
          <a:xfrm>
            <a:off x="6474713" y="1122903"/>
            <a:ext cx="927891" cy="358775"/>
          </a:xfrm>
          <a:prstGeom prst="rect">
            <a:avLst/>
          </a:prstGeom>
        </p:spPr>
        <p:txBody>
          <a:bodyPr lIns="0" tIns="0" rIns="0" bIns="0" rtlCol="0" anchor="t">
            <a:spAutoFit/>
          </a:bodyPr>
          <a:lstStyle/>
          <a:p>
            <a:pPr algn="ctr">
              <a:lnSpc>
                <a:spcPts val="2800"/>
              </a:lnSpc>
              <a:spcBef>
                <a:spcPct val="0"/>
              </a:spcBef>
            </a:pP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2" name="TextBox 12"/>
          <p:cNvSpPr txBox="1"/>
          <p:nvPr/>
        </p:nvSpPr>
        <p:spPr>
          <a:xfrm>
            <a:off x="8507504" y="1122903"/>
            <a:ext cx="927891" cy="358775"/>
          </a:xfrm>
          <a:prstGeom prst="rect">
            <a:avLst/>
          </a:prstGeom>
        </p:spPr>
        <p:txBody>
          <a:bodyPr lIns="0" tIns="0" rIns="0" bIns="0" rtlCol="0" anchor="t">
            <a:spAutoFit/>
          </a:bodyPr>
          <a:lstStyle/>
          <a:p>
            <a:pPr algn="ctr">
              <a:lnSpc>
                <a:spcPts val="2800"/>
              </a:lnSpc>
              <a:spcBef>
                <a:spcPct val="0"/>
              </a:spcBef>
            </a:pP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10372048" y="1122903"/>
            <a:ext cx="1441239" cy="358775"/>
          </a:xfrm>
          <a:prstGeom prst="rect">
            <a:avLst/>
          </a:prstGeom>
        </p:spPr>
        <p:txBody>
          <a:bodyPr lIns="0" tIns="0" rIns="0" bIns="0" rtlCol="0" anchor="t">
            <a:spAutoFit/>
          </a:bodyPr>
          <a:lstStyle/>
          <a:p>
            <a:pPr algn="ctr">
              <a:lnSpc>
                <a:spcPts val="2800"/>
              </a:lnSpc>
              <a:spcBef>
                <a:spcPct val="0"/>
              </a:spcBef>
            </a:pP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4" name="TextBox 14"/>
          <p:cNvSpPr txBox="1"/>
          <p:nvPr/>
        </p:nvSpPr>
        <p:spPr>
          <a:xfrm>
            <a:off x="1570360" y="5495092"/>
            <a:ext cx="7259472" cy="435610"/>
          </a:xfrm>
          <a:prstGeom prst="rect">
            <a:avLst/>
          </a:prstGeom>
        </p:spPr>
        <p:txBody>
          <a:bodyPr lIns="0" tIns="0" rIns="0" bIns="0" rtlCol="0" anchor="t">
            <a:spAutoFit/>
          </a:bodyPr>
          <a:lstStyle/>
          <a:p>
            <a:pPr marL="0" lvl="0" indent="0" algn="l">
              <a:lnSpc>
                <a:spcPts val="3400"/>
              </a:lnSpc>
              <a:spcBef>
                <a:spcPct val="0"/>
              </a:spcBef>
            </a:pPr>
            <a:r>
              <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 </a:t>
            </a:r>
            <a:endParaRPr lang="ar-EG"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855345" y="6999605"/>
            <a:ext cx="7456805" cy="2446020"/>
          </a:xfrm>
          <a:prstGeom prst="rect">
            <a:avLst/>
          </a:prstGeom>
        </p:spPr>
        <p:txBody>
          <a:bodyPr wrap="square" lIns="0" tIns="0" rIns="0" bIns="0" rtlCol="0" anchor="t">
            <a:noAutofit/>
          </a:bodyPr>
          <a:lstStyle/>
          <a:p>
            <a:pPr marL="0" lvl="0" indent="0" algn="l">
              <a:lnSpc>
                <a:spcPts val="3400"/>
              </a:lnSpc>
              <a:spcBef>
                <a:spcPct val="0"/>
              </a:spcBef>
            </a:pPr>
            <a:r>
              <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The image shows a microscopic false-color view of an ultra-small transistor, a key component in processors. These nanometer-scale transistors are developed using materials like MoS₂ and carbon nanotubes to make electronic devices smaller and more energy-efficient.</a:t>
            </a:r>
            <a:endParaRPr lang="en-US" alt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pic>
        <p:nvPicPr>
          <p:cNvPr id="16" name="Picture 15" descr="WhatsApp Image 2026-04-10 at 4.51.53 PM (2)"/>
          <p:cNvPicPr>
            <a:picLocks noChangeAspect="1"/>
          </p:cNvPicPr>
          <p:nvPr/>
        </p:nvPicPr>
        <p:blipFill>
          <a:blip r:embed="rId5"/>
          <a:stretch>
            <a:fillRect/>
          </a:stretch>
        </p:blipFill>
        <p:spPr>
          <a:xfrm>
            <a:off x="9067800" y="2339340"/>
            <a:ext cx="8822055" cy="7230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6038482" y="1028700"/>
            <a:ext cx="6211035" cy="558435"/>
            <a:chOff x="0" y="0"/>
            <a:chExt cx="1635828" cy="147077"/>
          </a:xfrm>
        </p:grpSpPr>
        <p:sp>
          <p:nvSpPr>
            <p:cNvPr id="3" name="Freeform 3"/>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4" name="TextBox 4"/>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sp>
        <p:nvSpPr>
          <p:cNvPr id="5" name="Freeform 5"/>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0327638" y="6020708"/>
            <a:ext cx="273778" cy="27377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10"/>
                </a:lnSpc>
              </a:pPr>
            </a:p>
          </p:txBody>
        </p:sp>
      </p:grpSp>
      <p:sp>
        <p:nvSpPr>
          <p:cNvPr id="9" name="Freeform 9"/>
          <p:cNvSpPr/>
          <p:nvPr/>
        </p:nvSpPr>
        <p:spPr>
          <a:xfrm>
            <a:off x="1028700" y="1028700"/>
            <a:ext cx="604970" cy="604970"/>
          </a:xfrm>
          <a:custGeom>
            <a:avLst/>
            <a:gdLst/>
            <a:ahLst/>
            <a:cxnLst/>
            <a:rect l="l" t="t" r="r" b="b"/>
            <a:pathLst>
              <a:path w="604970" h="604970">
                <a:moveTo>
                  <a:pt x="0" y="0"/>
                </a:moveTo>
                <a:lnTo>
                  <a:pt x="604970" y="0"/>
                </a:lnTo>
                <a:lnTo>
                  <a:pt x="604970" y="604970"/>
                </a:lnTo>
                <a:lnTo>
                  <a:pt x="0" y="604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1028700" y="2837697"/>
            <a:ext cx="8584683" cy="5817299"/>
            <a:chOff x="0" y="0"/>
            <a:chExt cx="1444219" cy="978656"/>
          </a:xfrm>
        </p:grpSpPr>
        <p:sp>
          <p:nvSpPr>
            <p:cNvPr id="12" name="Freeform 12"/>
            <p:cNvSpPr/>
            <p:nvPr/>
          </p:nvSpPr>
          <p:spPr>
            <a:xfrm>
              <a:off x="0" y="0"/>
              <a:ext cx="1444219" cy="978656"/>
            </a:xfrm>
            <a:custGeom>
              <a:avLst/>
              <a:gdLst/>
              <a:ahLst/>
              <a:cxnLst/>
              <a:rect l="l" t="t" r="r" b="b"/>
              <a:pathLst>
                <a:path w="1444219" h="978656">
                  <a:moveTo>
                    <a:pt x="53208" y="0"/>
                  </a:moveTo>
                  <a:lnTo>
                    <a:pt x="1391011" y="0"/>
                  </a:lnTo>
                  <a:cubicBezTo>
                    <a:pt x="1420397" y="0"/>
                    <a:pt x="1444219" y="23822"/>
                    <a:pt x="1444219" y="53208"/>
                  </a:cubicBezTo>
                  <a:lnTo>
                    <a:pt x="1444219" y="925448"/>
                  </a:lnTo>
                  <a:cubicBezTo>
                    <a:pt x="1444219" y="954834"/>
                    <a:pt x="1420397" y="978656"/>
                    <a:pt x="1391011" y="978656"/>
                  </a:cubicBezTo>
                  <a:lnTo>
                    <a:pt x="53208" y="978656"/>
                  </a:lnTo>
                  <a:cubicBezTo>
                    <a:pt x="23822" y="978656"/>
                    <a:pt x="0" y="954834"/>
                    <a:pt x="0" y="925448"/>
                  </a:cubicBezTo>
                  <a:lnTo>
                    <a:pt x="0" y="53208"/>
                  </a:lnTo>
                  <a:cubicBezTo>
                    <a:pt x="0" y="23822"/>
                    <a:pt x="23822" y="0"/>
                    <a:pt x="53208" y="0"/>
                  </a:cubicBezTo>
                  <a:close/>
                </a:path>
              </a:pathLst>
            </a:custGeom>
            <a:blipFill>
              <a:blip r:embed="rId5"/>
              <a:stretch>
                <a:fillRect l="-854" r="-854"/>
              </a:stretch>
            </a:blipFill>
            <a:ln w="247650" cap="rnd">
              <a:gradFill>
                <a:gsLst>
                  <a:gs pos="0">
                    <a:srgbClr val="2C3094">
                      <a:alpha val="100000"/>
                    </a:srgbClr>
                  </a:gs>
                  <a:gs pos="100000">
                    <a:srgbClr val="6B7FE1">
                      <a:alpha val="100000"/>
                    </a:srgbClr>
                  </a:gs>
                </a:gsLst>
                <a:lin ang="0"/>
              </a:gradFill>
              <a:prstDash val="solid"/>
              <a:round/>
            </a:ln>
          </p:spPr>
          <p:txBody>
            <a:bodyPr/>
            <a:lstStyle/>
            <a:p>
              <a:endParaRPr lang="en-US"/>
            </a:p>
          </p:txBody>
        </p:sp>
      </p:grpSp>
      <p:sp>
        <p:nvSpPr>
          <p:cNvPr id="13" name="TextBox 13"/>
          <p:cNvSpPr txBox="1"/>
          <p:nvPr/>
        </p:nvSpPr>
        <p:spPr>
          <a:xfrm>
            <a:off x="10327638" y="3031971"/>
            <a:ext cx="6931662" cy="2394930"/>
          </a:xfrm>
          <a:prstGeom prst="rect">
            <a:avLst/>
          </a:prstGeom>
        </p:spPr>
        <p:txBody>
          <a:bodyPr lIns="0" tIns="0" rIns="0" bIns="0" rtlCol="0" anchor="t">
            <a:spAutoFit/>
          </a:bodyPr>
          <a:lstStyle/>
          <a:p>
            <a:pPr algn="l">
              <a:lnSpc>
                <a:spcPts val="9175"/>
              </a:lnSpc>
            </a:pPr>
            <a:r>
              <a:rPr lang="en-US" sz="7520" b="1" spc="-383">
                <a:solidFill>
                  <a:srgbClr val="6A84FF"/>
                </a:solidFill>
                <a:latin typeface="Poppins Bold" panose="00000800000000000000"/>
                <a:ea typeface="Poppins Bold" panose="00000800000000000000"/>
                <a:cs typeface="Poppins Bold" panose="00000800000000000000"/>
                <a:sym typeface="Poppins Bold" panose="00000800000000000000"/>
              </a:rPr>
              <a:t>Conclusion &amp; Future Outlook</a:t>
            </a:r>
            <a:endParaRPr lang="en-US" sz="7520" b="1" spc="-383">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0751544" y="5949765"/>
            <a:ext cx="5363444" cy="358513"/>
          </a:xfrm>
          <a:prstGeom prst="rect">
            <a:avLst/>
          </a:prstGeom>
        </p:spPr>
        <p:txBody>
          <a:bodyPr lIns="0" tIns="0" rIns="0" bIns="0" rtlCol="0" anchor="t">
            <a:spAutoFit/>
          </a:bodyPr>
          <a:lstStyle/>
          <a:p>
            <a:pPr marL="0" lvl="0" indent="0" algn="l">
              <a:lnSpc>
                <a:spcPts val="2810"/>
              </a:lnSpc>
              <a:spcBef>
                <a:spcPct val="0"/>
              </a:spcBef>
            </a:pPr>
            <a:r>
              <a:rPr lang="en-US" sz="2005" spc="156">
                <a:solidFill>
                  <a:srgbClr val="FFFFFF"/>
                </a:solidFill>
                <a:latin typeface="Poppins" panose="00000500000000000000"/>
                <a:ea typeface="Poppins" panose="00000500000000000000"/>
                <a:cs typeface="Poppins" panose="00000500000000000000"/>
                <a:sym typeface="Poppins" panose="00000500000000000000"/>
              </a:rPr>
              <a:t>Stay updat</a:t>
            </a:r>
            <a:r>
              <a:rPr lang="en-US" sz="2005" u="none" strike="noStrike" spc="156">
                <a:solidFill>
                  <a:srgbClr val="FFFFFF"/>
                </a:solidFill>
                <a:latin typeface="Poppins" panose="00000500000000000000"/>
                <a:ea typeface="Poppins" panose="00000500000000000000"/>
                <a:cs typeface="Poppins" panose="00000500000000000000"/>
                <a:sym typeface="Poppins" panose="00000500000000000000"/>
              </a:rPr>
              <a:t>ed with technology</a:t>
            </a:r>
            <a:endParaRPr lang="en-US" sz="2005" u="none" strike="noStrike" spc="156">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6474713" y="1122903"/>
            <a:ext cx="927891" cy="358742"/>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Home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8507504" y="1122903"/>
            <a:ext cx="927891" cy="358742"/>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About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372048" y="1122903"/>
            <a:ext cx="1441239" cy="358742"/>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Contact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0327638" y="6663671"/>
            <a:ext cx="6410746" cy="1711325"/>
          </a:xfrm>
          <a:prstGeom prst="rect">
            <a:avLst/>
          </a:prstGeom>
        </p:spPr>
        <p:txBody>
          <a:bodyPr lIns="0" tIns="0" rIns="0" bIns="0" rtlCol="0" anchor="t">
            <a:spAutoFit/>
          </a:bodyPr>
          <a:lstStyle/>
          <a:p>
            <a:pPr marL="0" lvl="0" indent="0" algn="l">
              <a:lnSpc>
                <a:spcPts val="3400"/>
              </a:lnSpc>
              <a:spcBef>
                <a:spcPct val="0"/>
              </a:spcBef>
            </a:pPr>
            <a:r>
              <a:rPr 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rPr>
              <a:t>Lorem ipsum dolor sit amet, consectetur adipiscing elit. Sed at ipsum vitae lacus lobortis lacinia. Donec tristique arcu massa, at pharetra tortor feugiat non.</a:t>
            </a:r>
            <a:endParaRPr lang="en-US" sz="2000" u="none" strike="noStrike">
              <a:solidFill>
                <a:srgbClr val="FFFFFF">
                  <a:alpha val="71765"/>
                </a:srgbClr>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2F6B">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30547" y="2983059"/>
            <a:ext cx="16826907" cy="3769622"/>
          </a:xfrm>
          <a:prstGeom prst="rect">
            <a:avLst/>
          </a:prstGeom>
        </p:spPr>
        <p:txBody>
          <a:bodyPr lIns="0" tIns="0" rIns="0" bIns="0" rtlCol="0" anchor="t">
            <a:spAutoFit/>
          </a:bodyPr>
          <a:lstStyle/>
          <a:p>
            <a:pPr algn="ctr">
              <a:lnSpc>
                <a:spcPts val="30040"/>
              </a:lnSpc>
            </a:pPr>
            <a:r>
              <a:rPr lang="en-US" sz="24625" b="1" i="1" spc="-1255" dirty="0">
                <a:solidFill>
                  <a:srgbClr val="6A84FF"/>
                </a:solidFill>
                <a:latin typeface="Poppins Bold" panose="00000800000000000000"/>
                <a:ea typeface="Poppins Bold" panose="00000800000000000000"/>
                <a:cs typeface="Poppins Bold" panose="00000800000000000000"/>
                <a:sym typeface="Poppins Bold" panose="00000800000000000000"/>
              </a:rPr>
              <a:t>Thank You</a:t>
            </a:r>
            <a:endParaRPr lang="en-US" sz="24625" b="1" i="1" spc="-1255" dirty="0">
              <a:solidFill>
                <a:srgbClr val="6A84FF"/>
              </a:solidFill>
              <a:latin typeface="Poppins Bold" panose="00000800000000000000"/>
              <a:ea typeface="Poppins Bold" panose="00000800000000000000"/>
              <a:cs typeface="Poppins Bold" panose="00000800000000000000"/>
              <a:sym typeface="Poppins Bold" panose="00000800000000000000"/>
            </a:endParaRPr>
          </a:p>
        </p:txBody>
      </p:sp>
      <p:grpSp>
        <p:nvGrpSpPr>
          <p:cNvPr id="3" name="Group 3"/>
          <p:cNvGrpSpPr/>
          <p:nvPr/>
        </p:nvGrpSpPr>
        <p:grpSpPr>
          <a:xfrm>
            <a:off x="5377213" y="7689902"/>
            <a:ext cx="7862124" cy="689983"/>
            <a:chOff x="0" y="0"/>
            <a:chExt cx="2070683" cy="181724"/>
          </a:xfrm>
        </p:grpSpPr>
        <p:sp>
          <p:nvSpPr>
            <p:cNvPr id="4" name="Freeform 4"/>
            <p:cNvSpPr/>
            <p:nvPr/>
          </p:nvSpPr>
          <p:spPr>
            <a:xfrm>
              <a:off x="0" y="0"/>
              <a:ext cx="2070683" cy="181724"/>
            </a:xfrm>
            <a:custGeom>
              <a:avLst/>
              <a:gdLst/>
              <a:ahLst/>
              <a:cxnLst/>
              <a:rect l="l" t="t" r="r" b="b"/>
              <a:pathLst>
                <a:path w="2070683" h="181724">
                  <a:moveTo>
                    <a:pt x="90862" y="0"/>
                  </a:moveTo>
                  <a:lnTo>
                    <a:pt x="1979821" y="0"/>
                  </a:lnTo>
                  <a:cubicBezTo>
                    <a:pt x="2003919" y="0"/>
                    <a:pt x="2027030" y="9573"/>
                    <a:pt x="2044070" y="26613"/>
                  </a:cubicBezTo>
                  <a:cubicBezTo>
                    <a:pt x="2061110" y="43653"/>
                    <a:pt x="2070683" y="66764"/>
                    <a:pt x="2070683" y="90862"/>
                  </a:cubicBezTo>
                  <a:lnTo>
                    <a:pt x="2070683" y="90862"/>
                  </a:lnTo>
                  <a:cubicBezTo>
                    <a:pt x="2070683" y="141044"/>
                    <a:pt x="2030003" y="181724"/>
                    <a:pt x="1979821" y="181724"/>
                  </a:cubicBezTo>
                  <a:lnTo>
                    <a:pt x="90862" y="181724"/>
                  </a:lnTo>
                  <a:cubicBezTo>
                    <a:pt x="66764" y="181724"/>
                    <a:pt x="43653" y="172151"/>
                    <a:pt x="26613" y="155111"/>
                  </a:cubicBezTo>
                  <a:cubicBezTo>
                    <a:pt x="9573" y="138071"/>
                    <a:pt x="0" y="114960"/>
                    <a:pt x="0" y="90862"/>
                  </a:cubicBezTo>
                  <a:lnTo>
                    <a:pt x="0" y="90862"/>
                  </a:lnTo>
                  <a:cubicBezTo>
                    <a:pt x="0" y="66764"/>
                    <a:pt x="9573" y="43653"/>
                    <a:pt x="26613" y="26613"/>
                  </a:cubicBezTo>
                  <a:cubicBezTo>
                    <a:pt x="43653" y="9573"/>
                    <a:pt x="66764" y="0"/>
                    <a:pt x="90862" y="0"/>
                  </a:cubicBezTo>
                  <a:close/>
                </a:path>
              </a:pathLst>
            </a:custGeom>
            <a:solidFill>
              <a:srgbClr val="FFFFFF"/>
            </a:solidFill>
          </p:spPr>
          <p:txBody>
            <a:bodyPr/>
            <a:lstStyle/>
            <a:p>
              <a:endParaRPr lang="en-US"/>
            </a:p>
          </p:txBody>
        </p:sp>
        <p:sp>
          <p:nvSpPr>
            <p:cNvPr id="5" name="TextBox 5"/>
            <p:cNvSpPr txBox="1"/>
            <p:nvPr/>
          </p:nvSpPr>
          <p:spPr>
            <a:xfrm>
              <a:off x="0" y="-57150"/>
              <a:ext cx="2070683" cy="238874"/>
            </a:xfrm>
            <a:prstGeom prst="rect">
              <a:avLst/>
            </a:prstGeom>
          </p:spPr>
          <p:txBody>
            <a:bodyPr lIns="50800" tIns="50800" rIns="50800" bIns="50800" rtlCol="0" anchor="ctr"/>
            <a:lstStyle/>
            <a:p>
              <a:pPr algn="ctr">
                <a:lnSpc>
                  <a:spcPts val="2810"/>
                </a:lnSpc>
              </a:pPr>
            </a:p>
          </p:txBody>
        </p:sp>
      </p:grpSp>
      <p:grpSp>
        <p:nvGrpSpPr>
          <p:cNvPr id="6" name="Group 6"/>
          <p:cNvGrpSpPr/>
          <p:nvPr/>
        </p:nvGrpSpPr>
        <p:grpSpPr>
          <a:xfrm>
            <a:off x="8070037" y="7762826"/>
            <a:ext cx="2476476" cy="558435"/>
            <a:chOff x="0" y="0"/>
            <a:chExt cx="652241" cy="147077"/>
          </a:xfrm>
        </p:grpSpPr>
        <p:sp>
          <p:nvSpPr>
            <p:cNvPr id="7" name="Freeform 7"/>
            <p:cNvSpPr/>
            <p:nvPr/>
          </p:nvSpPr>
          <p:spPr>
            <a:xfrm>
              <a:off x="0" y="0"/>
              <a:ext cx="652241" cy="147077"/>
            </a:xfrm>
            <a:custGeom>
              <a:avLst/>
              <a:gdLst/>
              <a:ahLst/>
              <a:cxnLst/>
              <a:rect l="l" t="t" r="r" b="b"/>
              <a:pathLst>
                <a:path w="652241" h="147077">
                  <a:moveTo>
                    <a:pt x="73539" y="0"/>
                  </a:moveTo>
                  <a:lnTo>
                    <a:pt x="578702" y="0"/>
                  </a:lnTo>
                  <a:cubicBezTo>
                    <a:pt x="598205" y="0"/>
                    <a:pt x="616910" y="7748"/>
                    <a:pt x="630702" y="21539"/>
                  </a:cubicBezTo>
                  <a:cubicBezTo>
                    <a:pt x="644493" y="35330"/>
                    <a:pt x="652241" y="54035"/>
                    <a:pt x="652241" y="73539"/>
                  </a:cubicBezTo>
                  <a:lnTo>
                    <a:pt x="652241" y="73539"/>
                  </a:lnTo>
                  <a:cubicBezTo>
                    <a:pt x="652241" y="114153"/>
                    <a:pt x="619316" y="147077"/>
                    <a:pt x="578702"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8" name="TextBox 8"/>
            <p:cNvSpPr txBox="1"/>
            <p:nvPr/>
          </p:nvSpPr>
          <p:spPr>
            <a:xfrm>
              <a:off x="0" y="-57150"/>
              <a:ext cx="652241" cy="204227"/>
            </a:xfrm>
            <a:prstGeom prst="rect">
              <a:avLst/>
            </a:prstGeom>
          </p:spPr>
          <p:txBody>
            <a:bodyPr lIns="50800" tIns="50800" rIns="50800" bIns="50800" rtlCol="0" anchor="ctr"/>
            <a:lstStyle/>
            <a:p>
              <a:pPr algn="ctr">
                <a:lnSpc>
                  <a:spcPts val="2810"/>
                </a:lnSpc>
              </a:pPr>
            </a:p>
          </p:txBody>
        </p:sp>
      </p:grpSp>
      <p:grpSp>
        <p:nvGrpSpPr>
          <p:cNvPr id="9" name="Group 9"/>
          <p:cNvGrpSpPr/>
          <p:nvPr/>
        </p:nvGrpSpPr>
        <p:grpSpPr>
          <a:xfrm rot="-2536899">
            <a:off x="16461218" y="9112447"/>
            <a:ext cx="3086100" cy="2349107"/>
            <a:chOff x="0" y="0"/>
            <a:chExt cx="812800" cy="618695"/>
          </a:xfrm>
        </p:grpSpPr>
        <p:sp>
          <p:nvSpPr>
            <p:cNvPr id="10" name="Freeform 10"/>
            <p:cNvSpPr/>
            <p:nvPr/>
          </p:nvSpPr>
          <p:spPr>
            <a:xfrm>
              <a:off x="0" y="0"/>
              <a:ext cx="812800" cy="618695"/>
            </a:xfrm>
            <a:custGeom>
              <a:avLst/>
              <a:gdLst/>
              <a:ahLst/>
              <a:cxnLst/>
              <a:rect l="l" t="t" r="r" b="b"/>
              <a:pathLst>
                <a:path w="812800" h="618695">
                  <a:moveTo>
                    <a:pt x="0" y="0"/>
                  </a:moveTo>
                  <a:lnTo>
                    <a:pt x="812800" y="0"/>
                  </a:lnTo>
                  <a:lnTo>
                    <a:pt x="812800" y="618695"/>
                  </a:lnTo>
                  <a:lnTo>
                    <a:pt x="0" y="618695"/>
                  </a:ln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1" name="TextBox 11"/>
            <p:cNvSpPr txBox="1"/>
            <p:nvPr/>
          </p:nvSpPr>
          <p:spPr>
            <a:xfrm>
              <a:off x="0" y="-57150"/>
              <a:ext cx="812800" cy="675845"/>
            </a:xfrm>
            <a:prstGeom prst="rect">
              <a:avLst/>
            </a:prstGeom>
          </p:spPr>
          <p:txBody>
            <a:bodyPr lIns="50800" tIns="50800" rIns="50800" bIns="50800" rtlCol="0" anchor="ctr"/>
            <a:lstStyle/>
            <a:p>
              <a:pPr algn="ctr">
                <a:lnSpc>
                  <a:spcPts val="2810"/>
                </a:lnSpc>
              </a:pPr>
            </a:p>
          </p:txBody>
        </p:sp>
      </p:grpSp>
      <p:grpSp>
        <p:nvGrpSpPr>
          <p:cNvPr id="12" name="Group 12"/>
          <p:cNvGrpSpPr/>
          <p:nvPr/>
        </p:nvGrpSpPr>
        <p:grpSpPr>
          <a:xfrm rot="-2536899">
            <a:off x="-1895934" y="-844380"/>
            <a:ext cx="4920099" cy="2349107"/>
            <a:chOff x="0" y="0"/>
            <a:chExt cx="1295829" cy="618695"/>
          </a:xfrm>
        </p:grpSpPr>
        <p:sp>
          <p:nvSpPr>
            <p:cNvPr id="13" name="Freeform 13"/>
            <p:cNvSpPr/>
            <p:nvPr/>
          </p:nvSpPr>
          <p:spPr>
            <a:xfrm>
              <a:off x="0" y="0"/>
              <a:ext cx="1295829" cy="618695"/>
            </a:xfrm>
            <a:custGeom>
              <a:avLst/>
              <a:gdLst/>
              <a:ahLst/>
              <a:cxnLst/>
              <a:rect l="l" t="t" r="r" b="b"/>
              <a:pathLst>
                <a:path w="1295829" h="618695">
                  <a:moveTo>
                    <a:pt x="0" y="0"/>
                  </a:moveTo>
                  <a:lnTo>
                    <a:pt x="1295829" y="0"/>
                  </a:lnTo>
                  <a:lnTo>
                    <a:pt x="1295829" y="618695"/>
                  </a:lnTo>
                  <a:lnTo>
                    <a:pt x="0" y="618695"/>
                  </a:lnTo>
                  <a:close/>
                </a:path>
              </a:pathLst>
            </a:custGeom>
            <a:gradFill rotWithShape="1">
              <a:gsLst>
                <a:gs pos="0">
                  <a:srgbClr val="2C3094">
                    <a:alpha val="100000"/>
                  </a:srgbClr>
                </a:gs>
                <a:gs pos="100000">
                  <a:srgbClr val="6B7FE1">
                    <a:alpha val="100000"/>
                  </a:srgbClr>
                </a:gs>
              </a:gsLst>
              <a:lin ang="0"/>
            </a:gradFill>
          </p:spPr>
          <p:txBody>
            <a:bodyPr/>
            <a:lstStyle/>
            <a:p>
              <a:endParaRPr lang="en-US"/>
            </a:p>
          </p:txBody>
        </p:sp>
        <p:sp>
          <p:nvSpPr>
            <p:cNvPr id="14" name="TextBox 14"/>
            <p:cNvSpPr txBox="1"/>
            <p:nvPr/>
          </p:nvSpPr>
          <p:spPr>
            <a:xfrm>
              <a:off x="0" y="-57150"/>
              <a:ext cx="1295829" cy="675845"/>
            </a:xfrm>
            <a:prstGeom prst="rect">
              <a:avLst/>
            </a:prstGeom>
          </p:spPr>
          <p:txBody>
            <a:bodyPr lIns="50800" tIns="50800" rIns="50800" bIns="50800" rtlCol="0" anchor="ctr"/>
            <a:lstStyle/>
            <a:p>
              <a:pPr algn="ctr">
                <a:lnSpc>
                  <a:spcPts val="2810"/>
                </a:lnSpc>
              </a:pPr>
            </a:p>
          </p:txBody>
        </p:sp>
      </p:grpSp>
      <p:grpSp>
        <p:nvGrpSpPr>
          <p:cNvPr id="15" name="Group 15"/>
          <p:cNvGrpSpPr/>
          <p:nvPr/>
        </p:nvGrpSpPr>
        <p:grpSpPr>
          <a:xfrm>
            <a:off x="6038482" y="1028700"/>
            <a:ext cx="6211035" cy="558435"/>
            <a:chOff x="0" y="0"/>
            <a:chExt cx="1635828" cy="147077"/>
          </a:xfrm>
        </p:grpSpPr>
        <p:sp>
          <p:nvSpPr>
            <p:cNvPr id="16" name="Freeform 16"/>
            <p:cNvSpPr/>
            <p:nvPr/>
          </p:nvSpPr>
          <p:spPr>
            <a:xfrm>
              <a:off x="0" y="0"/>
              <a:ext cx="1635828" cy="147077"/>
            </a:xfrm>
            <a:custGeom>
              <a:avLst/>
              <a:gdLst/>
              <a:ahLst/>
              <a:cxnLst/>
              <a:rect l="l" t="t" r="r" b="b"/>
              <a:pathLst>
                <a:path w="1635828" h="147077">
                  <a:moveTo>
                    <a:pt x="73539" y="0"/>
                  </a:moveTo>
                  <a:lnTo>
                    <a:pt x="1562290" y="0"/>
                  </a:lnTo>
                  <a:cubicBezTo>
                    <a:pt x="1581793" y="0"/>
                    <a:pt x="1600498" y="7748"/>
                    <a:pt x="1614289" y="21539"/>
                  </a:cubicBezTo>
                  <a:cubicBezTo>
                    <a:pt x="1628080" y="35330"/>
                    <a:pt x="1635828" y="54035"/>
                    <a:pt x="1635828" y="73539"/>
                  </a:cubicBezTo>
                  <a:lnTo>
                    <a:pt x="1635828" y="73539"/>
                  </a:lnTo>
                  <a:cubicBezTo>
                    <a:pt x="1635828" y="114153"/>
                    <a:pt x="1602904" y="147077"/>
                    <a:pt x="1562290" y="147077"/>
                  </a:cubicBezTo>
                  <a:lnTo>
                    <a:pt x="73539" y="147077"/>
                  </a:lnTo>
                  <a:cubicBezTo>
                    <a:pt x="54035" y="147077"/>
                    <a:pt x="35330" y="139330"/>
                    <a:pt x="21539" y="125538"/>
                  </a:cubicBezTo>
                  <a:cubicBezTo>
                    <a:pt x="7748" y="111747"/>
                    <a:pt x="0" y="93042"/>
                    <a:pt x="0" y="73539"/>
                  </a:cubicBezTo>
                  <a:lnTo>
                    <a:pt x="0" y="73539"/>
                  </a:lnTo>
                  <a:cubicBezTo>
                    <a:pt x="0" y="54035"/>
                    <a:pt x="7748" y="35330"/>
                    <a:pt x="21539" y="21539"/>
                  </a:cubicBezTo>
                  <a:cubicBezTo>
                    <a:pt x="35330" y="7748"/>
                    <a:pt x="54035" y="0"/>
                    <a:pt x="73539" y="0"/>
                  </a:cubicBezTo>
                  <a:close/>
                </a:path>
              </a:pathLst>
            </a:custGeom>
            <a:gradFill rotWithShape="1">
              <a:gsLst>
                <a:gs pos="0">
                  <a:srgbClr val="2C3094">
                    <a:alpha val="100000"/>
                  </a:srgbClr>
                </a:gs>
                <a:gs pos="100000">
                  <a:srgbClr val="6B7FE1">
                    <a:alpha val="100000"/>
                  </a:srgbClr>
                </a:gs>
              </a:gsLst>
              <a:lin ang="0"/>
            </a:gradFill>
          </p:spPr>
          <p:txBody>
            <a:bodyPr/>
            <a:lstStyle/>
            <a:p>
              <a:endParaRPr lang="en-US" dirty="0"/>
            </a:p>
          </p:txBody>
        </p:sp>
        <p:sp>
          <p:nvSpPr>
            <p:cNvPr id="17" name="TextBox 17"/>
            <p:cNvSpPr txBox="1"/>
            <p:nvPr/>
          </p:nvSpPr>
          <p:spPr>
            <a:xfrm>
              <a:off x="0" y="-57150"/>
              <a:ext cx="1635828" cy="204227"/>
            </a:xfrm>
            <a:prstGeom prst="rect">
              <a:avLst/>
            </a:prstGeom>
          </p:spPr>
          <p:txBody>
            <a:bodyPr lIns="50800" tIns="50800" rIns="50800" bIns="50800" rtlCol="0" anchor="ctr"/>
            <a:lstStyle/>
            <a:p>
              <a:pPr algn="ctr">
                <a:lnSpc>
                  <a:spcPts val="2810"/>
                </a:lnSpc>
              </a:pPr>
            </a:p>
          </p:txBody>
        </p:sp>
      </p:grpSp>
      <p:grpSp>
        <p:nvGrpSpPr>
          <p:cNvPr id="18" name="Group 18"/>
          <p:cNvGrpSpPr/>
          <p:nvPr/>
        </p:nvGrpSpPr>
        <p:grpSpPr>
          <a:xfrm rot="-2536899">
            <a:off x="14833640" y="9783921"/>
            <a:ext cx="3086100" cy="116363"/>
            <a:chOff x="0" y="0"/>
            <a:chExt cx="812800" cy="30647"/>
          </a:xfrm>
        </p:grpSpPr>
        <p:sp>
          <p:nvSpPr>
            <p:cNvPr id="19" name="Freeform 19"/>
            <p:cNvSpPr/>
            <p:nvPr/>
          </p:nvSpPr>
          <p:spPr>
            <a:xfrm>
              <a:off x="0" y="0"/>
              <a:ext cx="812800" cy="30647"/>
            </a:xfrm>
            <a:custGeom>
              <a:avLst/>
              <a:gdLst/>
              <a:ahLst/>
              <a:cxnLst/>
              <a:rect l="l" t="t" r="r" b="b"/>
              <a:pathLst>
                <a:path w="812800" h="30647">
                  <a:moveTo>
                    <a:pt x="0" y="0"/>
                  </a:moveTo>
                  <a:lnTo>
                    <a:pt x="812800" y="0"/>
                  </a:lnTo>
                  <a:lnTo>
                    <a:pt x="812800" y="30647"/>
                  </a:lnTo>
                  <a:lnTo>
                    <a:pt x="0" y="30647"/>
                  </a:lnTo>
                  <a:close/>
                </a:path>
              </a:pathLst>
            </a:custGeom>
            <a:solidFill>
              <a:srgbClr val="FFFFFF"/>
            </a:solidFill>
          </p:spPr>
          <p:txBody>
            <a:bodyPr/>
            <a:lstStyle/>
            <a:p>
              <a:endParaRPr lang="en-US"/>
            </a:p>
          </p:txBody>
        </p:sp>
        <p:sp>
          <p:nvSpPr>
            <p:cNvPr id="20" name="TextBox 20"/>
            <p:cNvSpPr txBox="1"/>
            <p:nvPr/>
          </p:nvSpPr>
          <p:spPr>
            <a:xfrm>
              <a:off x="0" y="-57150"/>
              <a:ext cx="812800" cy="87797"/>
            </a:xfrm>
            <a:prstGeom prst="rect">
              <a:avLst/>
            </a:prstGeom>
          </p:spPr>
          <p:txBody>
            <a:bodyPr lIns="50800" tIns="50800" rIns="50800" bIns="50800" rtlCol="0" anchor="ctr"/>
            <a:lstStyle/>
            <a:p>
              <a:pPr algn="ctr">
                <a:lnSpc>
                  <a:spcPts val="2810"/>
                </a:lnSpc>
              </a:pPr>
            </a:p>
          </p:txBody>
        </p:sp>
      </p:grpSp>
      <p:grpSp>
        <p:nvGrpSpPr>
          <p:cNvPr id="21" name="Group 21"/>
          <p:cNvGrpSpPr/>
          <p:nvPr/>
        </p:nvGrpSpPr>
        <p:grpSpPr>
          <a:xfrm rot="-2536899">
            <a:off x="902181" y="447782"/>
            <a:ext cx="3086100" cy="116363"/>
            <a:chOff x="0" y="0"/>
            <a:chExt cx="812800" cy="30647"/>
          </a:xfrm>
        </p:grpSpPr>
        <p:sp>
          <p:nvSpPr>
            <p:cNvPr id="22" name="Freeform 22"/>
            <p:cNvSpPr/>
            <p:nvPr/>
          </p:nvSpPr>
          <p:spPr>
            <a:xfrm>
              <a:off x="0" y="0"/>
              <a:ext cx="812800" cy="30647"/>
            </a:xfrm>
            <a:custGeom>
              <a:avLst/>
              <a:gdLst/>
              <a:ahLst/>
              <a:cxnLst/>
              <a:rect l="l" t="t" r="r" b="b"/>
              <a:pathLst>
                <a:path w="812800" h="30647">
                  <a:moveTo>
                    <a:pt x="0" y="0"/>
                  </a:moveTo>
                  <a:lnTo>
                    <a:pt x="812800" y="0"/>
                  </a:lnTo>
                  <a:lnTo>
                    <a:pt x="812800" y="30647"/>
                  </a:lnTo>
                  <a:lnTo>
                    <a:pt x="0" y="30647"/>
                  </a:lnTo>
                  <a:close/>
                </a:path>
              </a:pathLst>
            </a:custGeom>
            <a:solidFill>
              <a:srgbClr val="FFFFFF"/>
            </a:solidFill>
          </p:spPr>
          <p:txBody>
            <a:bodyPr/>
            <a:lstStyle/>
            <a:p>
              <a:endParaRPr lang="en-US"/>
            </a:p>
          </p:txBody>
        </p:sp>
        <p:sp>
          <p:nvSpPr>
            <p:cNvPr id="23" name="TextBox 23"/>
            <p:cNvSpPr txBox="1"/>
            <p:nvPr/>
          </p:nvSpPr>
          <p:spPr>
            <a:xfrm>
              <a:off x="0" y="-57150"/>
              <a:ext cx="812800" cy="87797"/>
            </a:xfrm>
            <a:prstGeom prst="rect">
              <a:avLst/>
            </a:prstGeom>
          </p:spPr>
          <p:txBody>
            <a:bodyPr lIns="50800" tIns="50800" rIns="50800" bIns="50800" rtlCol="0" anchor="ctr"/>
            <a:lstStyle/>
            <a:p>
              <a:pPr algn="ctr">
                <a:lnSpc>
                  <a:spcPts val="2810"/>
                </a:lnSpc>
              </a:pPr>
            </a:p>
          </p:txBody>
        </p:sp>
      </p:grpSp>
      <p:sp>
        <p:nvSpPr>
          <p:cNvPr id="24" name="Freeform 24"/>
          <p:cNvSpPr/>
          <p:nvPr/>
        </p:nvSpPr>
        <p:spPr>
          <a:xfrm>
            <a:off x="-2871702" y="7565831"/>
            <a:ext cx="5419991" cy="5419991"/>
          </a:xfrm>
          <a:custGeom>
            <a:avLst/>
            <a:gdLst/>
            <a:ahLst/>
            <a:cxnLst/>
            <a:rect l="l" t="t" r="r" b="b"/>
            <a:pathLst>
              <a:path w="5419991" h="5419991">
                <a:moveTo>
                  <a:pt x="0" y="0"/>
                </a:moveTo>
                <a:lnTo>
                  <a:pt x="5419990" y="0"/>
                </a:lnTo>
                <a:lnTo>
                  <a:pt x="5419990"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6" name="TextBox 26"/>
          <p:cNvSpPr txBox="1"/>
          <p:nvPr/>
        </p:nvSpPr>
        <p:spPr>
          <a:xfrm>
            <a:off x="5105400" y="7795815"/>
            <a:ext cx="8382000" cy="426399"/>
          </a:xfrm>
          <a:prstGeom prst="rect">
            <a:avLst/>
          </a:prstGeom>
        </p:spPr>
        <p:txBody>
          <a:bodyPr wrap="square" lIns="0" tIns="0" rIns="0" bIns="0" rtlCol="0" anchor="t">
            <a:spAutoFit/>
          </a:bodyPr>
          <a:lstStyle/>
          <a:p>
            <a:pPr algn="ctr">
              <a:lnSpc>
                <a:spcPts val="3375"/>
              </a:lnSpc>
            </a:pPr>
            <a:r>
              <a:rPr lang="en-US" sz="2770" b="1" spc="-141" dirty="0">
                <a:solidFill>
                  <a:srgbClr val="FFFFFF"/>
                </a:solidFill>
                <a:latin typeface="Poppins Bold" panose="00000800000000000000"/>
                <a:ea typeface="Poppins Bold" panose="00000800000000000000"/>
                <a:cs typeface="Poppins Bold" panose="00000800000000000000"/>
                <a:sym typeface="Poppins Bold" panose="00000800000000000000"/>
              </a:rPr>
              <a:t>See You Next</a:t>
            </a:r>
            <a:endParaRPr lang="en-US" sz="2770" b="1" spc="-141" dirty="0">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31" name="Freeform 31"/>
          <p:cNvSpPr/>
          <p:nvPr/>
        </p:nvSpPr>
        <p:spPr>
          <a:xfrm>
            <a:off x="15294272" y="-2709995"/>
            <a:ext cx="5419991" cy="5419991"/>
          </a:xfrm>
          <a:custGeom>
            <a:avLst/>
            <a:gdLst/>
            <a:ahLst/>
            <a:cxnLst/>
            <a:rect l="l" t="t" r="r" b="b"/>
            <a:pathLst>
              <a:path w="5419991" h="5419991">
                <a:moveTo>
                  <a:pt x="0" y="0"/>
                </a:moveTo>
                <a:lnTo>
                  <a:pt x="5419991" y="0"/>
                </a:lnTo>
                <a:lnTo>
                  <a:pt x="5419991" y="5419990"/>
                </a:lnTo>
                <a:lnTo>
                  <a:pt x="0" y="5419990"/>
                </a:lnTo>
                <a:lnTo>
                  <a:pt x="0" y="0"/>
                </a:lnTo>
                <a:close/>
              </a:path>
            </a:pathLst>
          </a:custGeom>
          <a:blipFill>
            <a:blip r:embed="rId1">
              <a:alphaModFix amt="10999"/>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4936</Words>
  <Application>WPS Presentation</Application>
  <PresentationFormat>Custom</PresentationFormat>
  <Paragraphs>139</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Poppins Bold</vt:lpstr>
      <vt:lpstr>Poppins</vt:lpstr>
      <vt:lpstr>Poppins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Gradient Modern Futuristic Computer Presentation</dc:title>
  <dc:creator/>
  <cp:lastModifiedBy>sawa</cp:lastModifiedBy>
  <cp:revision>4</cp:revision>
  <dcterms:created xsi:type="dcterms:W3CDTF">2006-08-16T00:00:00Z</dcterms:created>
  <dcterms:modified xsi:type="dcterms:W3CDTF">2026-04-10T15:40:27Z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7B0EDFF1D4974AF98ACE5BA879252D2E_13</vt:lpwstr>
  </property>
  <property fmtid="{D5CDD505-2E9C-101B-9397-08002B2CF9AE}" pid="3" name="KSOProductBuildVer">
    <vt:lpwstr>1033-12.2.0.23196</vt:lpwstr>
  </property>
</Properties>
</file>